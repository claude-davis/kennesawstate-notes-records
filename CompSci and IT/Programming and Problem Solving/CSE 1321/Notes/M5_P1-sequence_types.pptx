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30"/>
  </p:notesMasterIdLst>
  <p:handoutMasterIdLst>
    <p:handoutMasterId r:id="rId31"/>
  </p:handoutMasterIdLst>
  <p:sldIdLst>
    <p:sldId id="420" r:id="rId2"/>
    <p:sldId id="422" r:id="rId3"/>
    <p:sldId id="424" r:id="rId4"/>
    <p:sldId id="542" r:id="rId5"/>
    <p:sldId id="419" r:id="rId6"/>
    <p:sldId id="543" r:id="rId7"/>
    <p:sldId id="544" r:id="rId8"/>
    <p:sldId id="549" r:id="rId9"/>
    <p:sldId id="545" r:id="rId10"/>
    <p:sldId id="546" r:id="rId11"/>
    <p:sldId id="547" r:id="rId12"/>
    <p:sldId id="548" r:id="rId13"/>
    <p:sldId id="550" r:id="rId14"/>
    <p:sldId id="552" r:id="rId15"/>
    <p:sldId id="553" r:id="rId16"/>
    <p:sldId id="554" r:id="rId17"/>
    <p:sldId id="560" r:id="rId18"/>
    <p:sldId id="561" r:id="rId19"/>
    <p:sldId id="562" r:id="rId20"/>
    <p:sldId id="556" r:id="rId21"/>
    <p:sldId id="557" r:id="rId22"/>
    <p:sldId id="558" r:id="rId23"/>
    <p:sldId id="559" r:id="rId24"/>
    <p:sldId id="540" r:id="rId25"/>
    <p:sldId id="551" r:id="rId26"/>
    <p:sldId id="555" r:id="rId27"/>
    <p:sldId id="541" r:id="rId28"/>
    <p:sldId id="472" r:id="rId2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4E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113E0-E497-B949-B4ED-B6614E1A933F}" v="4" dt="2021-09-24T14:09:38.9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1" autoAdjust="0"/>
    <p:restoredTop sz="94745" autoAdjust="0"/>
  </p:normalViewPr>
  <p:slideViewPr>
    <p:cSldViewPr>
      <p:cViewPr varScale="1">
        <p:scale>
          <a:sx n="83" d="100"/>
          <a:sy n="83" d="100"/>
        </p:scale>
        <p:origin x="734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75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040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6199E5-986C-6B48-BC8A-CF180E66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75FD1-974F-7445-A936-A5034342EC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637E63E9-B253-B94A-AE48-028EF49232FD}" type="datetimeFigureOut">
              <a:rPr lang="en-US" altLang="en-US"/>
              <a:pPr/>
              <a:t>5/22/2024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8B798-64B0-7F47-A55E-F9BC3145EB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74466-60F4-FA4E-976C-9BE1D9D0F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04B74D7-9A97-8F44-817C-D7C96673C1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830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CCC02D-07F9-CD45-8D94-FCD502661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BFF332-B4E1-5E4B-9E57-0134CF6F53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CC3EF90-FCF5-CC41-9A5A-15A8F83B20D0}" type="datetimeFigureOut">
              <a:rPr lang="en-US" altLang="en-US"/>
              <a:pPr/>
              <a:t>5/22/2024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EDE843-E0E6-FF41-BE32-C980B12CB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FD7777-8761-3248-B860-370D60236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AF59C-E359-024D-B379-31D7A859ED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3405E-12E8-5D48-8832-AA448DD7D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5043E83-1B97-CD47-9A6A-7D3D30D0DB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317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43E83-1B97-CD47-9A6A-7D3D30D0DBD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36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6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7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78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800" b="1" dirty="0"/>
              <a:t>Module 5 – Part 1</a:t>
            </a:r>
            <a:br>
              <a:rPr lang="en-US" altLang="en-US" sz="4745" b="1" dirty="0"/>
            </a:br>
            <a:endParaRPr lang="en-US" altLang="en-US" sz="4745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400" b="1" dirty="0"/>
              <a:t>Sequence Types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186142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C80BA707-9786-4367-9E7C-E717F5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Motivation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301AEED3-25F5-47E0-AC2F-664ECC30F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400" dirty="0"/>
              <a:t>Problem: store five integer numbers.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400" dirty="0"/>
              <a:t>Solution: create five variables!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number1 = 10   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number2 = 20    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number3 = 30      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number4 = 40    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CREATE number5 = 50    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PRINT("number1:  ” + number1)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PRINT("number2:  ” + number2)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PRINT("number3:  ” + number3)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PRINT("number4:  ” + number4)</a:t>
            </a:r>
            <a:b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PRINT("number5:  ” + number5)</a:t>
            </a:r>
            <a:endParaRPr lang="en-US" altLang="en-US" sz="24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400" dirty="0"/>
              <a:t>What if we don’t know ahead of time how many we need?</a:t>
            </a:r>
          </a:p>
        </p:txBody>
      </p:sp>
    </p:spTree>
    <p:extLst>
      <p:ext uri="{BB962C8B-B14F-4D97-AF65-F5344CB8AC3E}">
        <p14:creationId xmlns:p14="http://schemas.microsoft.com/office/powerpoint/2010/main" val="771945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DC26CB-7964-4002-8242-761FAD896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87339"/>
            <a:ext cx="7737475" cy="1312862"/>
          </a:xfrm>
        </p:spPr>
        <p:txBody>
          <a:bodyPr rtlCol="0">
            <a:normAutofit/>
          </a:bodyPr>
          <a:lstStyle/>
          <a:p>
            <a:pPr defTabSz="454923"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Topics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0839BA2-92CC-49C2-AD74-3C357138B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351337"/>
          </a:xfrm>
        </p:spPr>
        <p:txBody>
          <a:bodyPr>
            <a:normAutofit/>
          </a:bodyPr>
          <a:lstStyle/>
          <a:p>
            <a:pPr marL="0" indent="0" defTabSz="454025" eaLnBrk="1" hangingPunct="1">
              <a:buNone/>
            </a:pPr>
            <a:r>
              <a:rPr lang="en-US" altLang="en-US" sz="3100" dirty="0"/>
              <a:t>Strings</a:t>
            </a:r>
          </a:p>
          <a:p>
            <a:pPr marL="0" indent="0" defTabSz="454025" eaLnBrk="1" hangingPunct="1">
              <a:buNone/>
            </a:pPr>
            <a:r>
              <a:rPr lang="en-US" altLang="en-US" sz="3100" dirty="0"/>
              <a:t>Lists and their Properties</a:t>
            </a:r>
          </a:p>
          <a:p>
            <a:pPr marL="0" indent="0" defTabSz="454025" eaLnBrk="1" hangingPunct="1">
              <a:buNone/>
            </a:pPr>
            <a:r>
              <a:rPr lang="en-US" altLang="en-US" sz="3100" dirty="0"/>
              <a:t>Creating lists and using lists</a:t>
            </a:r>
          </a:p>
          <a:p>
            <a:pPr marL="0" indent="0" defTabSz="454025" eaLnBrk="1" hangingPunct="1">
              <a:buNone/>
            </a:pPr>
            <a:r>
              <a:rPr lang="en-US" altLang="en-US" sz="3100" dirty="0"/>
              <a:t>Manually iterating through lists</a:t>
            </a:r>
          </a:p>
          <a:p>
            <a:pPr marL="0" indent="0" defTabSz="454025" eaLnBrk="1" hangingPunct="1">
              <a:buNone/>
            </a:pPr>
            <a:r>
              <a:rPr lang="en-US" altLang="en-US" sz="3100" dirty="0"/>
              <a:t>Tuples</a:t>
            </a:r>
          </a:p>
          <a:p>
            <a:pPr marL="0" indent="0" defTabSz="454025" eaLnBrk="1" hangingPunct="1">
              <a:buNone/>
            </a:pPr>
            <a:r>
              <a:rPr lang="en-US" altLang="en-US" sz="3100" dirty="0"/>
              <a:t>Ranges</a:t>
            </a:r>
          </a:p>
        </p:txBody>
      </p:sp>
    </p:spTree>
    <p:extLst>
      <p:ext uri="{BB962C8B-B14F-4D97-AF65-F5344CB8AC3E}">
        <p14:creationId xmlns:p14="http://schemas.microsoft.com/office/powerpoint/2010/main" val="46955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4400-91D8-0FD8-5801-3C208D05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562BB4F-CB6A-4333-E93E-5867EAAF7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Strings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525C94-E31F-AFAC-BF35-D3E4CED6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79" y="1371600"/>
            <a:ext cx="7886700" cy="4343400"/>
          </a:xfrm>
        </p:spPr>
        <p:txBody>
          <a:bodyPr>
            <a:normAutofit lnSpcReduction="10000"/>
          </a:bodyPr>
          <a:lstStyle/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Sequence type which we’ve been using so far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Is a collection of 0 or more characters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Characters are ordered (meaning one comes before the other)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The characters may not be sorted (e.g.: there could be a “z” before an “a” in a string)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We use [ ] to access elements inside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Start with an index of 0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Technically immutable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17145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name = </a:t>
            </a:r>
            <a:r>
              <a:rPr lang="en-US" altLang="en-US" sz="25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altLang="en-US" sz="2500" dirty="0">
                <a:latin typeface="Calibri" panose="020F0502020204030204" pitchFamily="34" charset="0"/>
              </a:rPr>
              <a:t>print(name[0]) </a:t>
            </a: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“A”</a:t>
            </a:r>
          </a:p>
          <a:p>
            <a:pPr marL="17145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4198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152209-EF3B-4149-8F71-248E4D6A3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3CD625-0D85-4F4D-ADE9-8F601885B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495800"/>
          </a:xfrm>
        </p:spPr>
        <p:txBody>
          <a:bodyPr>
            <a:normAutofit/>
          </a:bodyPr>
          <a:lstStyle/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Sequence type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Is a collection of 0 or more elements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Elements in a list can be of any type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These elements are ordered (meaning one comes before the other)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The elements may not be sorted (may not be arranged from smallest to largest)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We use [ ] to create them and access elements inside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Start with an index of 0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Variable size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342900" lvl="1">
              <a:spcBef>
                <a:spcPts val="0"/>
              </a:spcBef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342900" lvl="1">
              <a:spcBef>
                <a:spcPts val="0"/>
              </a:spcBef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4245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A3F3-1624-4453-5A3C-4CAF8E46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517C97-174B-12E5-6645-6F4DDFEB6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132584-150B-C1B3-DCE0-48D719F1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981950" cy="4495800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Operations we can perform with lists: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Creating a list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Retrieving an element from a list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Retrieving multiple elements from a list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Adding an element to a list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Deleting an element from a list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Checking if a list has a particular element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Sorting a list</a:t>
            </a:r>
          </a:p>
          <a:p>
            <a:pPr>
              <a:spcBef>
                <a:spcPts val="0"/>
              </a:spcBef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96474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7BFCA-A9ED-0DD0-4614-2334EDC4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BAB9537-9B7B-4EB8-06B4-543FCDE080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Creating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9984C0-D043-E879-AB93-1229349B3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981950" cy="4724400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creates an empty list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 = []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list has been initialized with some values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800" dirty="0">
                <a:latin typeface="Calibri" panose="020F0502020204030204" pitchFamily="34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“Florida”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“Alabama”</a:t>
            </a:r>
            <a:r>
              <a:rPr lang="en-US" altLang="en-US" sz="2800" dirty="0">
                <a:latin typeface="Calibri" panose="020F0502020204030204" pitchFamily="34" charset="0"/>
              </a:rPr>
              <a:t>]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list has been initialized using an </a:t>
            </a:r>
            <a:r>
              <a:rPr lang="en-US" altLang="en-US" sz="28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iterable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 object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numbers = list(range(100))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list is initialized using a list comprehension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us_states</a:t>
            </a:r>
            <a:r>
              <a:rPr lang="en-US" altLang="en-US" sz="2800" dirty="0">
                <a:latin typeface="Calibri" panose="020F0502020204030204" pitchFamily="34" charset="0"/>
              </a:rPr>
              <a:t> = [state for state in states]</a:t>
            </a:r>
          </a:p>
        </p:txBody>
      </p:sp>
    </p:spTree>
    <p:extLst>
      <p:ext uri="{BB962C8B-B14F-4D97-AF65-F5344CB8AC3E}">
        <p14:creationId xmlns:p14="http://schemas.microsoft.com/office/powerpoint/2010/main" val="327026443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1CE5-895C-46A3-8201-42807EE9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8A9ABA1-6B43-FBB7-3ACE-F7B89DE04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Accessing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DC6F76-BF94-8688-041E-C4EFC6ACB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981950" cy="4724400"/>
          </a:xfrm>
        </p:spPr>
        <p:txBody>
          <a:bodyPr>
            <a:norm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prints “Florida”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lists always start at 0</a:t>
            </a:r>
            <a:br>
              <a:rPr lang="en-US" altLang="en-US" sz="2800" dirty="0">
                <a:latin typeface="Calibri" panose="020F0502020204030204" pitchFamily="34" charset="0"/>
              </a:rPr>
            </a:br>
            <a:r>
              <a:rPr lang="en-US" altLang="en-US" sz="2800" dirty="0">
                <a:latin typeface="Calibri" panose="020F0502020204030204" pitchFamily="34" charset="0"/>
              </a:rPr>
              <a:t>print(states[1])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#Slicing. More on this in a bit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print(states[0:1])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checks if “e” is in “Alice”, returning True of False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“e” </a:t>
            </a:r>
            <a:r>
              <a:rPr lang="en-US" altLang="en-US" sz="2800" dirty="0">
                <a:latin typeface="Calibri" panose="020F0502020204030204" pitchFamily="34" charset="0"/>
              </a:rPr>
              <a:t>in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checks if “z” is not in “Alice”, returning True of False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“z”</a:t>
            </a:r>
            <a:r>
              <a:rPr lang="en-US" altLang="en-US" sz="2800" dirty="0">
                <a:latin typeface="Calibri" panose="020F0502020204030204" pitchFamily="34" charset="0"/>
              </a:rPr>
              <a:t> not in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171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1E30-6328-E812-E907-60FB032F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84E1BC2-360B-3487-F9EA-8A519EDDE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Adding elements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1D6782-73CB-0DBC-418E-0E7E90A86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981950" cy="449580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Adds “Alice” to the end of the list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names.append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inserts “Charlie” at the 0</a:t>
            </a:r>
            <a:r>
              <a:rPr lang="en-US" altLang="en-US" sz="2800" baseline="30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th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 position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shifts all elements starting at 0 back one space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names.insert</a:t>
            </a:r>
            <a:r>
              <a:rPr lang="en-US" altLang="en-US" sz="2800" dirty="0">
                <a:latin typeface="Calibri" panose="020F0502020204030204" pitchFamily="34" charset="0"/>
              </a:rPr>
              <a:t>(0,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names.append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print [“Charlie”, “Alice”, “Bob”]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print(names)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altLang="en-US" sz="2800" dirty="0">
                <a:latin typeface="Calibri" panose="020F0502020204030204" pitchFamily="34" charset="0"/>
              </a:rPr>
            </a:b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replaces the item at position 1 with “David”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names[1] =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“David”</a:t>
            </a:r>
          </a:p>
        </p:txBody>
      </p:sp>
    </p:spTree>
    <p:extLst>
      <p:ext uri="{BB962C8B-B14F-4D97-AF65-F5344CB8AC3E}">
        <p14:creationId xmlns:p14="http://schemas.microsoft.com/office/powerpoint/2010/main" val="2413419617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6047-5E1C-D164-4D89-68166254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D76B2A-FB7F-92EC-180A-191873DCE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Removing elements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43FB20-07FD-6BCC-1343-4591E221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981950" cy="4724400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remove “Charlie” from the list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del names[0]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returns and removes the element at position 0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 = </a:t>
            </a:r>
            <a:r>
              <a:rPr lang="en-US" altLang="en-US" sz="2800" dirty="0" err="1">
                <a:latin typeface="Calibri" panose="020F0502020204030204" pitchFamily="34" charset="0"/>
              </a:rPr>
              <a:t>names.pop</a:t>
            </a:r>
            <a:r>
              <a:rPr lang="en-US" altLang="en-US" sz="2800" dirty="0">
                <a:latin typeface="Calibri" panose="020F0502020204030204" pitchFamily="34" charset="0"/>
              </a:rPr>
              <a:t>(0)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empty the list of elements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names.clear</a:t>
            </a:r>
            <a:r>
              <a:rPr lang="en-US" altLang="en-US" sz="2800" dirty="0">
                <a:latin typeface="Calibri" panose="020F0502020204030204" pitchFamily="34" charset="0"/>
              </a:rPr>
              <a:t>()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remove the elements from position 0 up to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but not including the element in position 2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del states[0:2]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will remove the first occurrence of “Eve” in names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</a:t>
            </a: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will crash, because the list has no “Eve”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names.remove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“Eve”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797793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55DA-6513-E7BD-C5B8-4B0D384B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E64DDE6-985A-6B4B-8883-C49FC4FB0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Slicing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63D26B-A350-8996-3FF9-FEE7CE62F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981950" cy="4495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The previous slides used something called “slicing”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This feature is not usually available in other languages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It allows the retrieval of a “slice” of a sequence type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	[start : end]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	[start : end : step]</a:t>
            </a:r>
          </a:p>
          <a:p>
            <a:pPr>
              <a:spcBef>
                <a:spcPts val="0"/>
              </a:spcBef>
            </a:pPr>
            <a:r>
              <a:rPr lang="en-US" altLang="en-US" sz="2800" u="sng" dirty="0">
                <a:latin typeface="Calibri" panose="020F0502020204030204" pitchFamily="34" charset="0"/>
              </a:rPr>
              <a:t>“end” is not inclusive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 =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will print “</a:t>
            </a:r>
            <a:r>
              <a:rPr lang="en-US" altLang="en-US" sz="28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lic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print(name[1:4])</a:t>
            </a:r>
          </a:p>
        </p:txBody>
      </p:sp>
    </p:spTree>
    <p:extLst>
      <p:ext uri="{BB962C8B-B14F-4D97-AF65-F5344CB8AC3E}">
        <p14:creationId xmlns:p14="http://schemas.microsoft.com/office/powerpoint/2010/main" val="331653196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45A3-9EDE-3B9A-6616-AC17C85D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EEDF3D-B07E-A201-E318-FA72503BD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Slicing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043C03-C3DF-19EA-1E8D-E0C6F856B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981950" cy="4495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Most Sequence types in python implement slicing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Notice that the type of the slice usually depends on the type of the original sequence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i.e.: slicing a string gives you a string, slicing a list gives you a list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800" dirty="0">
                <a:latin typeface="Calibri" panose="020F0502020204030204" pitchFamily="34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“Florida”</a:t>
            </a:r>
            <a:r>
              <a:rPr lang="en-US" altLang="en-US" sz="2800" dirty="0">
                <a:latin typeface="Calibri" panose="020F0502020204030204" pitchFamily="34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“Alabama”</a:t>
            </a:r>
            <a:r>
              <a:rPr lang="en-US" altLang="en-US" sz="2800" dirty="0">
                <a:latin typeface="Calibri" panose="020F0502020204030204" pitchFamily="34" charset="0"/>
              </a:rPr>
              <a:t>]</a:t>
            </a:r>
            <a:endParaRPr lang="en-US" altLang="en-US" sz="2800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will print [“Florida”, “Alabama”]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print(states[1:3])</a:t>
            </a:r>
          </a:p>
        </p:txBody>
      </p:sp>
    </p:spTree>
    <p:extLst>
      <p:ext uri="{BB962C8B-B14F-4D97-AF65-F5344CB8AC3E}">
        <p14:creationId xmlns:p14="http://schemas.microsoft.com/office/powerpoint/2010/main" val="120205549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9670-65B3-AC45-2039-C1E047AA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1B5FBD-DFC2-DEAC-E737-3BFB64BAF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Useful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C0E0F4-A998-2593-3BD6-6D26ABA5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1910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 err="1">
                <a:latin typeface="Calibri" panose="020F0502020204030204" pitchFamily="34" charset="0"/>
              </a:rPr>
              <a:t>len</a:t>
            </a:r>
            <a:r>
              <a:rPr lang="en-US" altLang="en-US" sz="2800" dirty="0">
                <a:latin typeface="Calibri" panose="020F0502020204030204" pitchFamily="34" charset="0"/>
              </a:rPr>
              <a:t>(list)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returns the number of elements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min(list)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returns the smallest element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max(list)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returns the largest element</a:t>
            </a:r>
          </a:p>
          <a:p>
            <a:pPr>
              <a:spcBef>
                <a:spcPts val="0"/>
              </a:spcBef>
            </a:pPr>
            <a:r>
              <a:rPr lang="en-US" altLang="en-US" sz="2800" dirty="0" err="1">
                <a:latin typeface="Calibri" panose="020F0502020204030204" pitchFamily="34" charset="0"/>
              </a:rPr>
              <a:t>list.count</a:t>
            </a:r>
            <a:r>
              <a:rPr lang="en-US" altLang="en-US" sz="2800" dirty="0">
                <a:latin typeface="Calibri" panose="020F0502020204030204" pitchFamily="34" charset="0"/>
              </a:rPr>
              <a:t>(e)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total number of occurrences of element e in the list</a:t>
            </a:r>
          </a:p>
          <a:p>
            <a:pPr>
              <a:spcBef>
                <a:spcPts val="0"/>
              </a:spcBef>
            </a:pPr>
            <a:r>
              <a:rPr lang="en-US" altLang="en-US" sz="2800" dirty="0" err="1">
                <a:latin typeface="Calibri" panose="020F0502020204030204" pitchFamily="34" charset="0"/>
              </a:rPr>
              <a:t>list.index</a:t>
            </a:r>
            <a:r>
              <a:rPr lang="en-US" altLang="en-US" sz="2800" dirty="0">
                <a:latin typeface="Calibri" panose="020F0502020204030204" pitchFamily="34" charset="0"/>
              </a:rPr>
              <a:t>(e)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returns the index of the first occurrence of e</a:t>
            </a:r>
          </a:p>
          <a:p>
            <a:pPr>
              <a:spcBef>
                <a:spcPts val="0"/>
              </a:spcBef>
            </a:pPr>
            <a:r>
              <a:rPr lang="en-US" altLang="en-US" sz="2800" dirty="0" err="1">
                <a:latin typeface="Calibri" panose="020F0502020204030204" pitchFamily="34" charset="0"/>
              </a:rPr>
              <a:t>list.reverse</a:t>
            </a:r>
            <a:r>
              <a:rPr lang="en-US" altLang="en-US" sz="2800" dirty="0">
                <a:latin typeface="Calibri" panose="020F0502020204030204" pitchFamily="34" charset="0"/>
              </a:rPr>
              <a:t>()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 # reverses the list. Doesn’t return anything</a:t>
            </a:r>
          </a:p>
          <a:p>
            <a:pPr>
              <a:spcBef>
                <a:spcPts val="0"/>
              </a:spcBef>
            </a:pPr>
            <a:r>
              <a:rPr lang="en-US" altLang="en-US" sz="2800" dirty="0" err="1">
                <a:latin typeface="Calibri" panose="020F0502020204030204" pitchFamily="34" charset="0"/>
              </a:rPr>
              <a:t>list.sort</a:t>
            </a:r>
            <a:r>
              <a:rPr lang="en-US" altLang="en-US" sz="2800" dirty="0">
                <a:latin typeface="Calibri" panose="020F0502020204030204" pitchFamily="34" charset="0"/>
              </a:rPr>
              <a:t>()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 # sorts the list from smallest to largest. Doesn’t return anything</a:t>
            </a:r>
          </a:p>
        </p:txBody>
      </p:sp>
    </p:spTree>
    <p:extLst>
      <p:ext uri="{BB962C8B-B14F-4D97-AF65-F5344CB8AC3E}">
        <p14:creationId xmlns:p14="http://schemas.microsoft.com/office/powerpoint/2010/main" val="4190306309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BDD2-34B2-EC6E-9609-553C5B43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47A8D96-4DEE-C171-9B16-D290AA5B1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Manual Iteration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309C23-5610-DF63-6446-100CF9C2E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1910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What if you want to perform different actions to elements on a list depending on what the element is?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We can simply use a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loop!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Remember that a </a:t>
            </a:r>
            <a:r>
              <a:rPr lang="en-US" altLang="en-US" sz="25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500" dirty="0">
                <a:latin typeface="Calibri" panose="020F0502020204030204" pitchFamily="34" charset="0"/>
              </a:rPr>
              <a:t> loop can iterate through any </a:t>
            </a:r>
            <a:r>
              <a:rPr lang="en-US" altLang="en-US" sz="2500" dirty="0" err="1">
                <a:latin typeface="Calibri" panose="020F0502020204030204" pitchFamily="34" charset="0"/>
              </a:rPr>
              <a:t>iterable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All sequence types are </a:t>
            </a:r>
            <a:r>
              <a:rPr lang="en-US" altLang="en-US" sz="2500" dirty="0" err="1">
                <a:latin typeface="Calibri" panose="020F0502020204030204" pitchFamily="34" charset="0"/>
              </a:rPr>
              <a:t>iterable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e.g.: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“Florida”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“Alabama”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“Delaware”</a:t>
            </a:r>
            <a:r>
              <a:rPr lang="en-US" altLang="en-US" sz="2800" dirty="0">
                <a:latin typeface="Calibri" panose="020F0502020204030204" pitchFamily="34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state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states: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if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“e”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state: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print</a:t>
            </a:r>
            <a:r>
              <a:rPr lang="en-US" altLang="en-US" sz="2800" dirty="0">
                <a:latin typeface="Calibri" panose="020F0502020204030204" pitchFamily="34" charset="0"/>
              </a:rPr>
              <a:t>(state +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 contains the letter e!”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3712577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FF66-3574-88A1-D1C9-EAC28D27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6FA91A-3683-F5C6-777D-108A90BF7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Manual Iteration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C4A5EF-8B84-FF28-281B-5CBFE1967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Notice that reassigning the variable used to iterate through the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loop will not replace the element in the original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“Florida”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“Alabama”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“Delaware”</a:t>
            </a:r>
            <a:r>
              <a:rPr lang="en-US" altLang="en-US" sz="2800" dirty="0">
                <a:latin typeface="Calibri" panose="020F0502020204030204" pitchFamily="34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state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states: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if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“e”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state: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print</a:t>
            </a:r>
            <a:r>
              <a:rPr lang="en-US" altLang="en-US" sz="2800" dirty="0">
                <a:latin typeface="Calibri" panose="020F0502020204030204" pitchFamily="34" charset="0"/>
              </a:rPr>
              <a:t>(state +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 contains the letter e!”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    state =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“This state had the letter e”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print(states)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still contains the original states</a:t>
            </a:r>
          </a:p>
        </p:txBody>
      </p:sp>
    </p:spTree>
    <p:extLst>
      <p:ext uri="{BB962C8B-B14F-4D97-AF65-F5344CB8AC3E}">
        <p14:creationId xmlns:p14="http://schemas.microsoft.com/office/powerpoint/2010/main" val="54552139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131F-440D-FC67-2F1B-571961E8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C08812-1118-31D5-2541-5BB03967B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Manual Iteration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DB5017-1082-56FD-98E1-8AA4ACC9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Instead, we need to replace the element at the specific position where it is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The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enumerate</a:t>
            </a:r>
            <a:r>
              <a:rPr lang="en-US" altLang="en-US" sz="2800" dirty="0">
                <a:latin typeface="Calibri" panose="020F0502020204030204" pitchFamily="34" charset="0"/>
              </a:rPr>
              <a:t>() method can be used here to give us the element as well as where it is currently being stored</a:t>
            </a:r>
          </a:p>
          <a:p>
            <a:pPr>
              <a:spcBef>
                <a:spcPts val="0"/>
              </a:spcBef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“Florida”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“Alabama”</a:t>
            </a:r>
            <a:r>
              <a:rPr lang="en-US" altLang="en-US" sz="2800" dirty="0">
                <a:latin typeface="Calibri" panose="020F0502020204030204" pitchFamily="34" charset="0"/>
              </a:rPr>
              <a:t>,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“Delaware”</a:t>
            </a:r>
            <a:r>
              <a:rPr lang="en-US" altLang="en-US" sz="2800" dirty="0">
                <a:latin typeface="Calibri" panose="020F0502020204030204" pitchFamily="34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position, state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enumerate(states):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if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“e”</a:t>
            </a:r>
            <a:r>
              <a:rPr lang="en-US" altLang="en-US" sz="2800" dirty="0"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in</a:t>
            </a:r>
            <a:r>
              <a:rPr lang="en-US" altLang="en-US" sz="2800" dirty="0">
                <a:latin typeface="Calibri" panose="020F0502020204030204" pitchFamily="34" charset="0"/>
              </a:rPr>
              <a:t> state: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   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print</a:t>
            </a:r>
            <a:r>
              <a:rPr lang="en-US" altLang="en-US" sz="2800" dirty="0">
                <a:latin typeface="Calibri" panose="020F0502020204030204" pitchFamily="34" charset="0"/>
              </a:rPr>
              <a:t>(state +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 contains the letter e!”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        states[position] = 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“This state had the letter e”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print(states)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states have been replaced</a:t>
            </a:r>
          </a:p>
        </p:txBody>
      </p:sp>
    </p:spTree>
    <p:extLst>
      <p:ext uri="{BB962C8B-B14F-4D97-AF65-F5344CB8AC3E}">
        <p14:creationId xmlns:p14="http://schemas.microsoft.com/office/powerpoint/2010/main" val="170268736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131F-440D-FC67-2F1B-571961E8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C08812-1118-31D5-2541-5BB03967B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Manual Sorting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DB5017-1082-56FD-98E1-8AA4ACC9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While we can always call the sort() method to sort a list, what if we wanted to sort a list manually?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After all, when we call sort(), the computer is running some code. What could that code look like?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In practice, you’ll hardly ever be asked to write code to sort something manually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Not all sorting algorithms are created equal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Some use more space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Some run slower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Some are more complex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It’s still a good idea to know basics</a:t>
            </a:r>
          </a:p>
        </p:txBody>
      </p:sp>
    </p:spTree>
    <p:extLst>
      <p:ext uri="{BB962C8B-B14F-4D97-AF65-F5344CB8AC3E}">
        <p14:creationId xmlns:p14="http://schemas.microsoft.com/office/powerpoint/2010/main" val="143550618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131F-440D-FC67-2F1B-571961E8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C08812-1118-31D5-2541-5BB03967B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Manual Sorting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DB5017-1082-56FD-98E1-8AA4ACC9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Bubble Sort: the most basic sorting algorithm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Algorithm: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Compare two elements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If they are out of order, swap them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Keep doing this until you reach the end of your collection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Once you do, the last element is guaranteed to be the last one!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Do this again to find the second-to-last element, then the third-to-last, </a:t>
            </a:r>
            <a:r>
              <a:rPr lang="en-US" altLang="en-US" sz="2500" dirty="0" err="1">
                <a:latin typeface="Calibri" panose="020F0502020204030204" pitchFamily="34" charset="0"/>
              </a:rPr>
              <a:t>etc</a:t>
            </a:r>
            <a:r>
              <a:rPr lang="en-US" altLang="en-US" sz="2500" dirty="0">
                <a:latin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99449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131F-440D-FC67-2F1B-571961E8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1C08812-1118-31D5-2541-5BB03967B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Bubble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DB5017-1082-56FD-98E1-8AA4ACC9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91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 = [43,58,65,38,38,4,57,36,6,45]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400" dirty="0" err="1">
                <a:latin typeface="Calibri" panose="020F0502020204030204" pitchFamily="34" charset="0"/>
              </a:rPr>
              <a:t>list_length</a:t>
            </a:r>
            <a:r>
              <a:rPr lang="en-US" altLang="en-US" sz="2400" dirty="0">
                <a:latin typeface="Calibri" panose="020F0502020204030204" pitchFamily="34" charset="0"/>
              </a:rPr>
              <a:t> = </a:t>
            </a:r>
            <a:r>
              <a:rPr lang="en-US" altLang="en-US" sz="2400" dirty="0" err="1">
                <a:latin typeface="Calibri" panose="020F0502020204030204" pitchFamily="34" charset="0"/>
              </a:rPr>
              <a:t>len</a:t>
            </a:r>
            <a:r>
              <a:rPr lang="en-US" altLang="en-US" sz="2400" dirty="0">
                <a:latin typeface="Calibri" panose="020F0502020204030204" pitchFamily="34" charset="0"/>
              </a:rPr>
              <a:t>(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for iteration in range(</a:t>
            </a:r>
            <a:r>
              <a:rPr lang="en-US" altLang="en-US" sz="2400" dirty="0" err="1">
                <a:latin typeface="Calibri" panose="020F0502020204030204" pitchFamily="34" charset="0"/>
              </a:rPr>
              <a:t>list_length</a:t>
            </a:r>
            <a:r>
              <a:rPr lang="en-US" altLang="en-US" sz="2400" dirty="0">
                <a:latin typeface="Calibri" panose="020F0502020204030204" pitchFamily="34" charset="0"/>
              </a:rPr>
              <a:t>):</a:t>
            </a:r>
            <a:br>
              <a:rPr lang="en-US" altLang="en-US" sz="2400" dirty="0">
                <a:latin typeface="Calibri" panose="020F0502020204030204" pitchFamily="34" charset="0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    for position in range(</a:t>
            </a:r>
            <a:r>
              <a:rPr lang="en-US" altLang="en-US" sz="2400" dirty="0" err="1">
                <a:latin typeface="Calibri" panose="020F0502020204030204" pitchFamily="34" charset="0"/>
              </a:rPr>
              <a:t>list_length</a:t>
            </a:r>
            <a:r>
              <a:rPr lang="en-US" altLang="en-US" sz="2400" dirty="0">
                <a:latin typeface="Calibri" panose="020F0502020204030204" pitchFamily="34" charset="0"/>
              </a:rPr>
              <a:t> – iteration - 1):</a:t>
            </a:r>
            <a:br>
              <a:rPr lang="en-US" altLang="en-US" sz="2400" dirty="0">
                <a:latin typeface="Calibri" panose="020F0502020204030204" pitchFamily="34" charset="0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        if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[position] &gt;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 + 1]: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            temp =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           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[position] =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 + 1]</a:t>
            </a:r>
            <a:br>
              <a:rPr lang="en-US" altLang="en-US" sz="2400" dirty="0">
                <a:latin typeface="Calibri" panose="020F0502020204030204" pitchFamily="34" charset="0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            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[position + 1] = temp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print(</a:t>
            </a:r>
            <a:r>
              <a:rPr lang="en-US" altLang="en-US" sz="2400" dirty="0" err="1">
                <a:latin typeface="Calibri" panose="020F0502020204030204" pitchFamily="34" charset="0"/>
              </a:rPr>
              <a:t>list_of_numbers</a:t>
            </a:r>
            <a:r>
              <a:rPr lang="en-US" altLang="en-US" sz="2400" dirty="0"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732082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BA7B-5645-B995-3E9F-622531DD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CBF6FB1-2CC8-F523-48EA-3AE17B6A1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Lists inside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9821BD-EC0C-C03B-2B75-56C340B9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It is possible to put a list inside another list!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This is sometimes done to simulate a 2-dimensional list</a:t>
            </a:r>
          </a:p>
          <a:p>
            <a:pPr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In this case, the outer list is keeping track of the rolls while the inner lists are keeping track of the columns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The list below has 3 elements: 3 empty lists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 = [[], [], []]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Notice that accessing the element at position 0 gives us the first list.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print(names[0])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an empty list []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54728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08DE-480A-7A05-86F9-B4B66DE6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D9D34C7-0051-BAD7-767C-A694F0CE2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Lists inside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57A622-FD83-55E9-173A-DC937DE7F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If we want to append an element to the first list inside the “names” list, we need to access the element in the first index and call its append()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names below is now [[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],[],[]]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What will </a:t>
            </a:r>
            <a:r>
              <a:rPr lang="en-US" altLang="en-US" sz="2800" u="sng" dirty="0">
                <a:latin typeface="Calibri" panose="020F0502020204030204" pitchFamily="34" charset="0"/>
              </a:rPr>
              <a:t>names</a:t>
            </a:r>
            <a:r>
              <a:rPr lang="en-US" altLang="en-US" sz="2800" dirty="0">
                <a:latin typeface="Calibri" panose="020F0502020204030204" pitchFamily="34" charset="0"/>
              </a:rPr>
              <a:t> look like after the operations below?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“Amanda”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“Ana”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names[1].append(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names[1].append(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</a:t>
            </a:r>
            <a:r>
              <a:rPr lang="en-US" altLang="en-US" sz="2800" dirty="0" err="1">
                <a:solidFill>
                  <a:srgbClr val="C00000"/>
                </a:solidFill>
                <a:latin typeface="Calibri" panose="020F0502020204030204" pitchFamily="34" charset="0"/>
              </a:rPr>
              <a:t>Bilford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names[2].append(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names[2].append(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“Chance”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names[2].append(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“Cameron”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names[2].append(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“Corbin”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64631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07A1-C1F0-B2D4-4DD7-B4A50BAB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0582C7B-4AA3-E146-102F-59A290763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Lists inside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3F5CC-4FC9-208E-8ED1-69AFC9341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If we want to access an element inside of an element, we just need to add an extra pair of square brackets.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 = [[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],[],[]]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print(names[0])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“Alice”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print(names[0][0])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“A”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names.append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append “Bob” to outer list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append “Charlie” to element in position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print(names)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the print above will print the following: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[[“Alice”, “Charlie”],[],[], “Bob”]</a:t>
            </a:r>
          </a:p>
        </p:txBody>
      </p:sp>
    </p:spTree>
    <p:extLst>
      <p:ext uri="{BB962C8B-B14F-4D97-AF65-F5344CB8AC3E}">
        <p14:creationId xmlns:p14="http://schemas.microsoft.com/office/powerpoint/2010/main" val="367675613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8A412-2C69-BBDF-CCFA-AEE49D32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CD1A900-02BD-B2F5-A327-801C9F300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Lists – Lists inside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A39F76-5732-F26E-0587-8574F7E9A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Be mindful of what element is accessed in a sequence!</a:t>
            </a:r>
          </a:p>
          <a:p>
            <a:pPr>
              <a:spcBef>
                <a:spcPts val="0"/>
              </a:spcBef>
            </a:pPr>
            <a:r>
              <a:rPr lang="en-US" altLang="en-US" sz="2800" dirty="0">
                <a:latin typeface="Calibri" panose="020F0502020204030204" pitchFamily="34" charset="0"/>
              </a:rPr>
              <a:t>Recall that each data type has a different set of operations that can be performed on them.</a:t>
            </a:r>
          </a:p>
          <a:p>
            <a:pPr>
              <a:spcBef>
                <a:spcPts val="0"/>
              </a:spcBef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 = [[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“Alice”</a:t>
            </a:r>
            <a:r>
              <a:rPr lang="en-US" altLang="en-US" sz="2800" dirty="0">
                <a:latin typeface="Calibri" panose="020F0502020204030204" pitchFamily="34" charset="0"/>
              </a:rPr>
              <a:t>],[],[]]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appends “Bob” to the outer list</a:t>
            </a: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err="1">
                <a:latin typeface="Calibri" panose="020F0502020204030204" pitchFamily="34" charset="0"/>
              </a:rPr>
              <a:t>names.append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“Bob”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appends “Charlie” to the first inner list</a:t>
            </a: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“Charlie”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This is an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We are trying to call append() on a string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names[0][0].append(</a:t>
            </a:r>
            <a:r>
              <a:rPr lang="en-US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“David”</a:t>
            </a:r>
            <a:r>
              <a:rPr lang="en-US" altLang="en-US" sz="2800" dirty="0">
                <a:latin typeface="Calibri" panose="020F0502020204030204" pitchFamily="34" charset="0"/>
              </a:rPr>
              <a:t>)</a:t>
            </a: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57299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FEBEC-22D0-3505-0A79-35844727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FE91C33-EFCD-DB88-925C-0AA516158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Tuples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276CC5-67B3-37AF-8C98-5AE728A2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495800"/>
          </a:xfrm>
        </p:spPr>
        <p:txBody>
          <a:bodyPr>
            <a:normAutofit/>
          </a:bodyPr>
          <a:lstStyle/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Is very similar to a list, with the biggest difference being that </a:t>
            </a:r>
            <a:r>
              <a:rPr lang="en-US" altLang="en-US" sz="2800" u="sng" dirty="0">
                <a:latin typeface="Calibri" panose="020F0502020204030204" pitchFamily="34" charset="0"/>
              </a:rPr>
              <a:t>tuples are immutable</a:t>
            </a:r>
            <a:r>
              <a:rPr lang="en-US" altLang="en-US" sz="2800" dirty="0">
                <a:latin typeface="Calibri" panose="020F0502020204030204" pitchFamily="34" charset="0"/>
              </a:rPr>
              <a:t> (i.e.: once you create one, you cannot add any more elements to it)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Tuples are much like lists, but with () instead of []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names = ()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states = (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“Georgia”</a:t>
            </a:r>
            <a:r>
              <a:rPr lang="en-US" altLang="en-US" sz="2400" dirty="0">
                <a:latin typeface="Calibri" panose="020F0502020204030204" pitchFamily="34" charset="0"/>
              </a:rPr>
              <a:t>,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“Florida”</a:t>
            </a:r>
            <a:r>
              <a:rPr lang="en-US" altLang="en-US" sz="2400" dirty="0">
                <a:latin typeface="Calibri" panose="020F0502020204030204" pitchFamily="34" charset="0"/>
              </a:rPr>
              <a:t>,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 “Alabama”</a:t>
            </a:r>
            <a:r>
              <a:rPr lang="en-US" altLang="en-US" sz="24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numbers = tuple(range(100))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unlike with lists, the line below WILL NOT generate a tuple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latin typeface="Calibri" panose="020F0502020204030204" pitchFamily="34" charset="0"/>
              </a:rPr>
              <a:t>us_states</a:t>
            </a:r>
            <a:r>
              <a:rPr lang="en-US" altLang="en-US" sz="2400" dirty="0">
                <a:latin typeface="Calibri" panose="020F0502020204030204" pitchFamily="34" charset="0"/>
              </a:rPr>
              <a:t> = (state for state in states)</a:t>
            </a:r>
          </a:p>
          <a:p>
            <a:pPr marL="342900" lvl="1">
              <a:spcBef>
                <a:spcPts val="0"/>
              </a:spcBef>
            </a:pPr>
            <a:endParaRPr lang="en-US" altLang="en-US" sz="25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952106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9AF3-C273-E4EA-D579-6C84B197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5C9B520-7E7E-3819-FB36-1D59F4E74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Tuples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F5C7DD-1902-BE6F-B004-8A6367BE5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49580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accessing a particular index in a tuple still uses []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print(states[0])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“Georgia”</a:t>
            </a:r>
            <a:endParaRPr lang="en-US" altLang="en-US" sz="25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print(states[1:3])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prints (‘Florida’, ‘Alabama’)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Since tuples are immutable, none of the insertion and deletion methods are available.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However, we can concatenate two tuples much like we do with strings: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states = (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"Georgia"</a:t>
            </a:r>
            <a:r>
              <a:rPr lang="en-US" altLang="en-US" sz="2200" dirty="0">
                <a:latin typeface="Calibri" panose="020F0502020204030204" pitchFamily="34" charset="0"/>
              </a:rPr>
              <a:t>,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"Florida"</a:t>
            </a:r>
            <a:r>
              <a:rPr lang="en-US" altLang="en-US" sz="2200" dirty="0">
                <a:latin typeface="Calibri" panose="020F0502020204030204" pitchFamily="34" charset="0"/>
              </a:rPr>
              <a:t>,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"Alabama"</a:t>
            </a:r>
            <a:r>
              <a:rPr lang="en-US" altLang="en-US" sz="22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 err="1">
                <a:latin typeface="Calibri" panose="020F0502020204030204" pitchFamily="34" charset="0"/>
              </a:rPr>
              <a:t>more_states</a:t>
            </a:r>
            <a:r>
              <a:rPr lang="en-US" altLang="en-US" sz="2200" dirty="0">
                <a:latin typeface="Calibri" panose="020F0502020204030204" pitchFamily="34" charset="0"/>
              </a:rPr>
              <a:t> = (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"South Carolina"</a:t>
            </a:r>
            <a:r>
              <a:rPr lang="en-US" altLang="en-US" sz="2200" dirty="0">
                <a:latin typeface="Calibri" panose="020F0502020204030204" pitchFamily="34" charset="0"/>
              </a:rPr>
              <a:t>,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"North Carolina"</a:t>
            </a:r>
            <a:r>
              <a:rPr lang="en-US" altLang="en-US" sz="2200" dirty="0">
                <a:latin typeface="Calibri" panose="020F0502020204030204" pitchFamily="34" charset="0"/>
              </a:rPr>
              <a:t>, 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</a:rPr>
              <a:t>"Delaware"</a:t>
            </a:r>
            <a:r>
              <a:rPr lang="en-US" altLang="en-US" sz="2200" dirty="0">
                <a:latin typeface="Calibri" panose="020F0502020204030204" pitchFamily="34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states += </a:t>
            </a:r>
            <a:r>
              <a:rPr lang="en-US" altLang="en-US" sz="2200" dirty="0" err="1">
                <a:latin typeface="Calibri" panose="020F0502020204030204" pitchFamily="34" charset="0"/>
              </a:rPr>
              <a:t>more_states</a:t>
            </a:r>
            <a:endParaRPr lang="en-US" altLang="en-US" sz="22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2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>
                <a:latin typeface="Calibri" panose="020F0502020204030204" pitchFamily="34" charset="0"/>
              </a:rPr>
              <a:t>print(states) </a:t>
            </a:r>
            <a:r>
              <a:rPr lang="en-US" altLang="en-US" sz="22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# all states are now in a single tuple</a:t>
            </a:r>
          </a:p>
        </p:txBody>
      </p:sp>
    </p:spTree>
    <p:extLst>
      <p:ext uri="{BB962C8B-B14F-4D97-AF65-F5344CB8AC3E}">
        <p14:creationId xmlns:p14="http://schemas.microsoft.com/office/powerpoint/2010/main" val="499140947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FBC8-2B1F-0765-3678-EB0A71AA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5216B7-F355-7B90-E006-7068D4DB9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Tuples - Sorting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1E20E6-B082-B974-3FC8-A18322B1F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495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600" dirty="0">
                <a:latin typeface="Calibri" panose="020F0502020204030204" pitchFamily="34" charset="0"/>
              </a:rPr>
              <a:t>How can we sort the elements in a tuple if a tuple is immutable?</a:t>
            </a:r>
          </a:p>
          <a:p>
            <a:pPr>
              <a:spcBef>
                <a:spcPts val="0"/>
              </a:spcBef>
            </a:pPr>
            <a:r>
              <a:rPr lang="en-US" altLang="en-US" sz="2600" dirty="0">
                <a:latin typeface="Calibri" panose="020F0502020204030204" pitchFamily="34" charset="0"/>
              </a:rPr>
              <a:t>Tuples do not have the </a:t>
            </a:r>
            <a:r>
              <a:rPr lang="en-US" altLang="en-US" sz="2600" dirty="0" err="1">
                <a:latin typeface="Calibri" panose="020F0502020204030204" pitchFamily="34" charset="0"/>
              </a:rPr>
              <a:t>tuple.sort</a:t>
            </a:r>
            <a:r>
              <a:rPr lang="en-US" altLang="en-US" sz="2600" dirty="0">
                <a:latin typeface="Calibri" panose="020F0502020204030204" pitchFamily="34" charset="0"/>
              </a:rPr>
              <a:t>() method, as it would require tuples to be mutable.</a:t>
            </a:r>
          </a:p>
          <a:p>
            <a:pPr>
              <a:spcBef>
                <a:spcPts val="0"/>
              </a:spcBef>
            </a:pPr>
            <a:r>
              <a:rPr lang="en-US" altLang="en-US" sz="2600" dirty="0">
                <a:latin typeface="Calibri" panose="020F0502020204030204" pitchFamily="34" charset="0"/>
              </a:rPr>
              <a:t>We can instead use the built-in </a:t>
            </a:r>
            <a:r>
              <a:rPr lang="en-US" altLang="en-US" sz="2600" dirty="0">
                <a:solidFill>
                  <a:srgbClr val="0432FF"/>
                </a:solidFill>
                <a:latin typeface="Calibri" panose="020F0502020204030204" pitchFamily="34" charset="0"/>
              </a:rPr>
              <a:t>sorted</a:t>
            </a:r>
            <a:r>
              <a:rPr lang="en-US" altLang="en-US" sz="2600" dirty="0">
                <a:latin typeface="Calibri" panose="020F0502020204030204" pitchFamily="34" charset="0"/>
              </a:rPr>
              <a:t>() method, which takes in any </a:t>
            </a:r>
            <a:r>
              <a:rPr lang="en-US" altLang="en-US" sz="2600" dirty="0" err="1">
                <a:latin typeface="Calibri" panose="020F0502020204030204" pitchFamily="34" charset="0"/>
              </a:rPr>
              <a:t>iterable</a:t>
            </a:r>
            <a:r>
              <a:rPr lang="en-US" altLang="en-US" sz="2600" dirty="0">
                <a:latin typeface="Calibri" panose="020F0502020204030204" pitchFamily="34" charset="0"/>
              </a:rPr>
              <a:t> and returns a sorted list of it.</a:t>
            </a:r>
          </a:p>
          <a:p>
            <a:pPr>
              <a:spcBef>
                <a:spcPts val="0"/>
              </a:spcBef>
            </a:pPr>
            <a:r>
              <a:rPr lang="en-US" altLang="en-US" sz="2600" dirty="0">
                <a:latin typeface="Calibri" panose="020F0502020204030204" pitchFamily="34" charset="0"/>
              </a:rPr>
              <a:t>If you still need a tuple, you can simply convert it back.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2600" dirty="0">
              <a:latin typeface="Calibri" panose="020F050202020403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rgbClr val="4E8F00"/>
                </a:solidFill>
                <a:latin typeface="Calibri" panose="020F0502020204030204" pitchFamily="34" charset="0"/>
              </a:rPr>
              <a:t># states from previous slide, with 6 states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latin typeface="Calibri" panose="020F0502020204030204" pitchFamily="34" charset="0"/>
              </a:rPr>
              <a:t>states =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tuple</a:t>
            </a:r>
            <a:r>
              <a:rPr lang="en-US" altLang="en-US" sz="2800" dirty="0">
                <a:latin typeface="Calibri" panose="020F0502020204030204" pitchFamily="34" charset="0"/>
              </a:rPr>
              <a:t>(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sorted</a:t>
            </a:r>
            <a:r>
              <a:rPr lang="en-US" altLang="en-US" sz="2800" dirty="0">
                <a:latin typeface="Calibri" panose="020F0502020204030204" pitchFamily="34" charset="0"/>
              </a:rPr>
              <a:t>(states))</a:t>
            </a: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523529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F8B0B-B5AE-53D0-4F4A-2D8BD0CA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1D9FA9F-2CB7-0D41-A49C-EC0088078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b="1" dirty="0"/>
              <a:t>Ranges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0BDF78-1642-8F03-7784-643BB1625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495800"/>
          </a:xfrm>
        </p:spPr>
        <p:txBody>
          <a:bodyPr>
            <a:normAutofit lnSpcReduction="10000"/>
          </a:bodyPr>
          <a:lstStyle/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Similar to a tuple (no insertion or deletion allowed)</a:t>
            </a:r>
          </a:p>
          <a:p>
            <a:pPr marL="342900" lvl="1">
              <a:spcBef>
                <a:spcPts val="0"/>
              </a:spcBef>
            </a:pPr>
            <a:r>
              <a:rPr lang="en-US" altLang="en-US" sz="2500" dirty="0">
                <a:latin typeface="Calibri" panose="020F0502020204030204" pitchFamily="34" charset="0"/>
              </a:rPr>
              <a:t>Does not allow for concatenation either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Generally used as the iterator in a </a:t>
            </a:r>
            <a:r>
              <a:rPr lang="en-US" altLang="en-US" sz="2800" dirty="0">
                <a:solidFill>
                  <a:srgbClr val="0432FF"/>
                </a:solidFill>
                <a:latin typeface="Calibri" panose="020F0502020204030204" pitchFamily="34" charset="0"/>
              </a:rPr>
              <a:t>for</a:t>
            </a:r>
            <a:r>
              <a:rPr lang="en-US" altLang="en-US" sz="2800" dirty="0">
                <a:latin typeface="Calibri" panose="020F0502020204030204" pitchFamily="34" charset="0"/>
              </a:rPr>
              <a:t> loop</a:t>
            </a:r>
          </a:p>
          <a:p>
            <a:pPr marL="0" ea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</a:rPr>
              <a:t>Main advantage over lists and tuples is the small amount of memory used</a:t>
            </a:r>
            <a:endParaRPr lang="en-US" altLang="en-US" sz="2500" dirty="0">
              <a:latin typeface="Calibri" panose="020F0502020204030204" pitchFamily="34" charset="0"/>
            </a:endParaRPr>
          </a:p>
          <a:p>
            <a:pPr marL="342900" lvl="1">
              <a:spcBef>
                <a:spcPts val="0"/>
              </a:spcBef>
            </a:pPr>
            <a:r>
              <a:rPr lang="en-US" altLang="en-US" sz="2200" dirty="0">
                <a:latin typeface="Calibri" panose="020F0502020204030204" pitchFamily="34" charset="0"/>
              </a:rPr>
              <a:t>Ranges don’t actually store any values, but instead generate them on the fly</a:t>
            </a:r>
          </a:p>
          <a:p>
            <a:pPr marL="171450" lvl="1" indent="0">
              <a:spcBef>
                <a:spcPts val="0"/>
              </a:spcBef>
              <a:buNone/>
            </a:pPr>
            <a:endParaRPr lang="en-US" altLang="en-US" sz="2500" dirty="0">
              <a:latin typeface="Calibri" panose="020F0502020204030204" pitchFamily="34" charset="0"/>
            </a:endParaRPr>
          </a:p>
          <a:p>
            <a:pPr marL="342900" lvl="1" indent="-342900"/>
            <a:r>
              <a:rPr lang="en-US" altLang="en-US" sz="2000" dirty="0"/>
              <a:t>With a single input, range() iterates from 0 up to (input – 1)</a:t>
            </a:r>
          </a:p>
          <a:p>
            <a:pPr marL="342900" lvl="1" indent="-342900"/>
            <a:r>
              <a:rPr lang="en-US" altLang="en-US" sz="2000" dirty="0"/>
              <a:t>With 2 inputs, range() iterates from the left number to (right number – 1)</a:t>
            </a:r>
          </a:p>
          <a:p>
            <a:pPr marL="342900" lvl="1" indent="-342900"/>
            <a:r>
              <a:rPr lang="en-US" altLang="en-US" sz="2000" dirty="0"/>
              <a:t>With 3 inputs, range() iterates from the left number to (middle number – 1) skipping (right number). The right number is usually called the “step”</a:t>
            </a:r>
          </a:p>
          <a:p>
            <a:pPr marL="342900" lvl="1">
              <a:spcBef>
                <a:spcPts val="0"/>
              </a:spcBef>
            </a:pPr>
            <a:endParaRPr lang="en-US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82751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6B0D810-B974-4867-8C1F-D93335D6C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defTabSz="454923" eaLnBrk="1" fontAlgn="auto" hangingPunct="1">
              <a:spcAft>
                <a:spcPts val="0"/>
              </a:spcAft>
              <a:defRPr/>
            </a:pPr>
            <a:r>
              <a:rPr lang="en-US" altLang="en-US" sz="4378" b="1" dirty="0"/>
              <a:t>Summary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2CA29A8-E04E-463B-96E8-222CC726A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Sequence types can any number of elements of different types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Elements in a Sequence are always ordered, but may not be sorted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Lists can vary in size once created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Strings, Tuples and Ranges cannot vary in size once created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You can access one or more elements in a Sequence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3184" dirty="0"/>
              <a:t>You can put other sequences inside your sequences</a:t>
            </a:r>
          </a:p>
          <a:p>
            <a:pPr marL="341192" indent="-341192" defTabSz="454923"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altLang="en-US" sz="3184" dirty="0"/>
          </a:p>
        </p:txBody>
      </p:sp>
    </p:spTree>
    <p:extLst>
      <p:ext uri="{BB962C8B-B14F-4D97-AF65-F5344CB8AC3E}">
        <p14:creationId xmlns:p14="http://schemas.microsoft.com/office/powerpoint/2010/main" val="1740973228"/>
      </p:ext>
    </p:extLst>
  </p:cSld>
  <p:clrMapOvr>
    <a:masterClrMapping/>
  </p:clrMapOvr>
</p:sld>
</file>

<file path=ppt/theme/theme1.xml><?xml version="1.0" encoding="utf-8"?>
<a:theme xmlns:a="http://schemas.openxmlformats.org/drawingml/2006/main" name="PPT2_16to9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PPT2_16to9</Template>
  <TotalTime>14098</TotalTime>
  <Words>2382</Words>
  <Application>Microsoft Office PowerPoint</Application>
  <PresentationFormat>On-screen Show (4:3)</PresentationFormat>
  <Paragraphs>285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PPT2_16to9</vt:lpstr>
      <vt:lpstr>Module 5 – Part 1 </vt:lpstr>
      <vt:lpstr>Motivation</vt:lpstr>
      <vt:lpstr>Topics</vt:lpstr>
      <vt:lpstr>Strings</vt:lpstr>
      <vt:lpstr>Lists</vt:lpstr>
      <vt:lpstr>Lists</vt:lpstr>
      <vt:lpstr>Lists – Creating</vt:lpstr>
      <vt:lpstr>Lists – Accessing</vt:lpstr>
      <vt:lpstr>Lists – Adding elements</vt:lpstr>
      <vt:lpstr>Lists – Removing elements</vt:lpstr>
      <vt:lpstr>Lists – Slicing</vt:lpstr>
      <vt:lpstr>Lists – Slicing (Continued)</vt:lpstr>
      <vt:lpstr>Lists – Useful Methods</vt:lpstr>
      <vt:lpstr>Lists – Manual Iteration</vt:lpstr>
      <vt:lpstr>Lists – Manual Iteration</vt:lpstr>
      <vt:lpstr>Lists – Manual Iteration</vt:lpstr>
      <vt:lpstr>Lists – Manual Sorting</vt:lpstr>
      <vt:lpstr>Lists – Manual Sorting</vt:lpstr>
      <vt:lpstr>Lists – Bubble sort</vt:lpstr>
      <vt:lpstr>Lists – Lists inside Lists</vt:lpstr>
      <vt:lpstr>Lists – Lists inside Lists</vt:lpstr>
      <vt:lpstr>Lists – Lists inside Lists</vt:lpstr>
      <vt:lpstr>Lists – Lists inside Lists</vt:lpstr>
      <vt:lpstr>Tuples</vt:lpstr>
      <vt:lpstr>Tuples</vt:lpstr>
      <vt:lpstr>Tuples - Sorting</vt:lpstr>
      <vt:lpstr>Ranges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CSE1301</dc:title>
  <dc:creator>Jon Preston</dc:creator>
  <cp:lastModifiedBy>Dmitri Nunes Dias Fernandes</cp:lastModifiedBy>
  <cp:revision>515</cp:revision>
  <dcterms:created xsi:type="dcterms:W3CDTF">2017-03-19T10:32:05Z</dcterms:created>
  <dcterms:modified xsi:type="dcterms:W3CDTF">2024-05-22T23:42:02Z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2012-04-21T00:00:00Z</vt:filetime>
  </property>
  <property fmtid="{D5CDD505-2E9C-101B-9397-08002B2CF9AE}" pid="3" name="LastSaved">
    <vt:filetime>2017-03-19T00:00:00Z</vt:filetime>
  </property>
</Properties>
</file>