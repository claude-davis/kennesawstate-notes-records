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0" r:id="rId3"/>
    <p:sldId id="257" r:id="rId4"/>
    <p:sldId id="277" r:id="rId5"/>
    <p:sldId id="288" r:id="rId6"/>
    <p:sldId id="290" r:id="rId7"/>
    <p:sldId id="293" r:id="rId8"/>
    <p:sldId id="295" r:id="rId9"/>
    <p:sldId id="291" r:id="rId10"/>
    <p:sldId id="29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Zheng" userId="eea985c3-49bd-46a9-972d-243b7dd82e16" providerId="ADAL" clId="{DA406E84-53F1-4452-A401-938D92B5562A}"/>
    <pc:docChg chg="modSld">
      <pc:chgData name="Jack Zheng" userId="eea985c3-49bd-46a9-972d-243b7dd82e16" providerId="ADAL" clId="{DA406E84-53F1-4452-A401-938D92B5562A}" dt="2026-04-24T17:59:01.310" v="6" actId="207"/>
      <pc:docMkLst>
        <pc:docMk/>
      </pc:docMkLst>
      <pc:sldChg chg="modSp mod">
        <pc:chgData name="Jack Zheng" userId="eea985c3-49bd-46a9-972d-243b7dd82e16" providerId="ADAL" clId="{DA406E84-53F1-4452-A401-938D92B5562A}" dt="2026-04-24T17:58:13.448" v="1" actId="20577"/>
        <pc:sldMkLst>
          <pc:docMk/>
          <pc:sldMk cId="3123496959" sldId="256"/>
        </pc:sldMkLst>
        <pc:spChg chg="mod">
          <ac:chgData name="Jack Zheng" userId="eea985c3-49bd-46a9-972d-243b7dd82e16" providerId="ADAL" clId="{DA406E84-53F1-4452-A401-938D92B5562A}" dt="2026-04-24T17:58:13.448" v="1" actId="20577"/>
          <ac:spMkLst>
            <pc:docMk/>
            <pc:sldMk cId="3123496959" sldId="256"/>
            <ac:spMk id="3" creationId="{00000000-0000-0000-0000-000000000000}"/>
          </ac:spMkLst>
        </pc:spChg>
      </pc:sldChg>
      <pc:sldChg chg="modSp mod">
        <pc:chgData name="Jack Zheng" userId="eea985c3-49bd-46a9-972d-243b7dd82e16" providerId="ADAL" clId="{DA406E84-53F1-4452-A401-938D92B5562A}" dt="2026-04-24T17:58:26.503" v="2" actId="207"/>
        <pc:sldMkLst>
          <pc:docMk/>
          <pc:sldMk cId="2564080620" sldId="257"/>
        </pc:sldMkLst>
        <pc:spChg chg="mod">
          <ac:chgData name="Jack Zheng" userId="eea985c3-49bd-46a9-972d-243b7dd82e16" providerId="ADAL" clId="{DA406E84-53F1-4452-A401-938D92B5562A}" dt="2026-04-24T17:58:26.503" v="2" actId="207"/>
          <ac:spMkLst>
            <pc:docMk/>
            <pc:sldMk cId="2564080620" sldId="257"/>
            <ac:spMk id="4" creationId="{00000000-0000-0000-0000-000000000000}"/>
          </ac:spMkLst>
        </pc:spChg>
      </pc:sldChg>
      <pc:sldChg chg="modSp mod">
        <pc:chgData name="Jack Zheng" userId="eea985c3-49bd-46a9-972d-243b7dd82e16" providerId="ADAL" clId="{DA406E84-53F1-4452-A401-938D92B5562A}" dt="2026-04-24T17:58:39.575" v="3" actId="27614"/>
        <pc:sldMkLst>
          <pc:docMk/>
          <pc:sldMk cId="2381848921" sldId="290"/>
        </pc:sldMkLst>
        <pc:picChg chg="mod">
          <ac:chgData name="Jack Zheng" userId="eea985c3-49bd-46a9-972d-243b7dd82e16" providerId="ADAL" clId="{DA406E84-53F1-4452-A401-938D92B5562A}" dt="2026-04-24T17:58:39.575" v="3" actId="27614"/>
          <ac:picMkLst>
            <pc:docMk/>
            <pc:sldMk cId="2381848921" sldId="290"/>
            <ac:picMk id="5" creationId="{772B90D2-F7F6-829D-75D4-AF4EFAD5697C}"/>
          </ac:picMkLst>
        </pc:picChg>
      </pc:sldChg>
      <pc:sldChg chg="modSp mod">
        <pc:chgData name="Jack Zheng" userId="eea985c3-49bd-46a9-972d-243b7dd82e16" providerId="ADAL" clId="{DA406E84-53F1-4452-A401-938D92B5562A}" dt="2026-04-24T17:59:01.310" v="6" actId="207"/>
        <pc:sldMkLst>
          <pc:docMk/>
          <pc:sldMk cId="609191379" sldId="291"/>
        </pc:sldMkLst>
        <pc:spChg chg="mod">
          <ac:chgData name="Jack Zheng" userId="eea985c3-49bd-46a9-972d-243b7dd82e16" providerId="ADAL" clId="{DA406E84-53F1-4452-A401-938D92B5562A}" dt="2026-04-24T17:59:01.310" v="6" actId="207"/>
          <ac:spMkLst>
            <pc:docMk/>
            <pc:sldMk cId="609191379" sldId="291"/>
            <ac:spMk id="4" creationId="{138889A8-678D-398B-1FA0-7F3B639B3AF0}"/>
          </ac:spMkLst>
        </pc:spChg>
      </pc:sldChg>
      <pc:sldChg chg="modSp mod">
        <pc:chgData name="Jack Zheng" userId="eea985c3-49bd-46a9-972d-243b7dd82e16" providerId="ADAL" clId="{DA406E84-53F1-4452-A401-938D92B5562A}" dt="2026-04-24T17:58:43.527" v="4" actId="27614"/>
        <pc:sldMkLst>
          <pc:docMk/>
          <pc:sldMk cId="2986603780" sldId="293"/>
        </pc:sldMkLst>
        <pc:picChg chg="mod">
          <ac:chgData name="Jack Zheng" userId="eea985c3-49bd-46a9-972d-243b7dd82e16" providerId="ADAL" clId="{DA406E84-53F1-4452-A401-938D92B5562A}" dt="2026-04-24T17:58:43.527" v="4" actId="27614"/>
          <ac:picMkLst>
            <pc:docMk/>
            <pc:sldMk cId="2986603780" sldId="293"/>
            <ac:picMk id="5" creationId="{A7005990-B856-9E28-CACF-EA2A2BD86361}"/>
          </ac:picMkLst>
        </pc:picChg>
      </pc:sldChg>
      <pc:sldChg chg="modSp mod">
        <pc:chgData name="Jack Zheng" userId="eea985c3-49bd-46a9-972d-243b7dd82e16" providerId="ADAL" clId="{DA406E84-53F1-4452-A401-938D92B5562A}" dt="2026-04-24T17:58:47.479" v="5" actId="27614"/>
        <pc:sldMkLst>
          <pc:docMk/>
          <pc:sldMk cId="4164501377" sldId="295"/>
        </pc:sldMkLst>
        <pc:picChg chg="mod">
          <ac:chgData name="Jack Zheng" userId="eea985c3-49bd-46a9-972d-243b7dd82e16" providerId="ADAL" clId="{DA406E84-53F1-4452-A401-938D92B5562A}" dt="2026-04-24T17:58:47.479" v="5" actId="27614"/>
          <ac:picMkLst>
            <pc:docMk/>
            <pc:sldMk cId="4164501377" sldId="295"/>
            <ac:picMk id="5" creationId="{ED4111A5-9D60-75B8-C095-C2556E12752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2D03C-FBBD-4610-B24E-5C447B4269E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20EF5-F743-402B-8A85-48A58ED9A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0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3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00"/>
              </a:spcBef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4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14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2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0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9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2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8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4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451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C6598-4005-49A0-9936-360FEB86E88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6EB91-17A5-4D75-ADE0-64906D10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9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 up a Frontend Web Development Environment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292924"/>
          </a:xfrm>
        </p:spPr>
        <p:txBody>
          <a:bodyPr>
            <a:normAutofit/>
          </a:bodyPr>
          <a:lstStyle/>
          <a:p>
            <a:r>
              <a:rPr lang="en-US" dirty="0"/>
              <a:t>IT 3203</a:t>
            </a:r>
          </a:p>
          <a:p>
            <a:endParaRPr lang="en-US" dirty="0"/>
          </a:p>
          <a:p>
            <a:r>
              <a:rPr lang="en-US" sz="2600" dirty="0">
                <a:solidFill>
                  <a:srgbClr val="FF0000"/>
                </a:solidFill>
              </a:rPr>
              <a:t>Fall 2026</a:t>
            </a:r>
          </a:p>
          <a:p>
            <a:endParaRPr lang="en-US" dirty="0"/>
          </a:p>
          <a:p>
            <a:r>
              <a:rPr lang="en-US" dirty="0"/>
              <a:t>Dr. Jack Zheng</a:t>
            </a:r>
          </a:p>
        </p:txBody>
      </p:sp>
    </p:spTree>
    <p:extLst>
      <p:ext uri="{BB962C8B-B14F-4D97-AF65-F5344CB8AC3E}">
        <p14:creationId xmlns:p14="http://schemas.microsoft.com/office/powerpoint/2010/main" val="312349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tutorial will help you set up your own web development environment and begin the fun of web development (for all exercises and projects in this class).</a:t>
            </a:r>
          </a:p>
          <a:p>
            <a:r>
              <a:rPr lang="en-US" dirty="0"/>
              <a:t>All information is valid for the semester indicated in the title slide. Things may change in the future and please use it just as a reference.</a:t>
            </a:r>
          </a:p>
          <a:p>
            <a:r>
              <a:rPr lang="en-US" b="1" dirty="0">
                <a:solidFill>
                  <a:srgbClr val="FF0000"/>
                </a:solidFill>
              </a:rPr>
              <a:t>Please complete this within the first two weeks of the semester!</a:t>
            </a:r>
            <a:endParaRPr lang="en-US" dirty="0">
              <a:solidFill>
                <a:srgbClr val="FF0000"/>
              </a:solidFill>
            </a:endParaRP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5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Development Environment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GitHub Pages </a:t>
            </a:r>
            <a:r>
              <a:rPr lang="en-US" dirty="0"/>
              <a:t>https://pages.github.com</a:t>
            </a:r>
            <a:endParaRPr lang="en-US" dirty="0"/>
          </a:p>
          <a:p>
            <a:pPr lvl="1"/>
            <a:r>
              <a:rPr lang="en-US" dirty="0"/>
              <a:t>Web hosting (public web server) that hosts your GitHub website (free)</a:t>
            </a:r>
          </a:p>
          <a:p>
            <a:r>
              <a:rPr lang="en-US" dirty="0"/>
              <a:t>Visual Studio Code </a:t>
            </a:r>
            <a:r>
              <a:rPr lang="en-US" dirty="0"/>
              <a:t>https://code.visualstudio.com</a:t>
            </a:r>
            <a:endParaRPr lang="en-US" dirty="0"/>
          </a:p>
          <a:p>
            <a:pPr lvl="1"/>
            <a:r>
              <a:rPr lang="en-US" dirty="0"/>
              <a:t>Code editor / IDE (integrate development environment)</a:t>
            </a:r>
          </a:p>
          <a:p>
            <a:pPr lvl="1"/>
            <a:r>
              <a:rPr lang="en-US" dirty="0"/>
              <a:t>Git is also integrated in VS Code.</a:t>
            </a:r>
          </a:p>
          <a:p>
            <a:r>
              <a:rPr lang="en-US" dirty="0" err="1"/>
              <a:t>CodePen</a:t>
            </a:r>
            <a:r>
              <a:rPr lang="en-US" dirty="0"/>
              <a:t> </a:t>
            </a:r>
            <a:r>
              <a:rPr lang="en-US" dirty="0"/>
              <a:t>https://codepen.io</a:t>
            </a:r>
            <a:endParaRPr lang="en-US" dirty="0"/>
          </a:p>
          <a:p>
            <a:pPr lvl="1"/>
            <a:r>
              <a:rPr lang="en-US" dirty="0"/>
              <a:t>Online coding playground for quick testing!</a:t>
            </a:r>
          </a:p>
          <a:p>
            <a:r>
              <a:rPr lang="en-US" dirty="0"/>
              <a:t>GitHub Desktop </a:t>
            </a:r>
            <a:r>
              <a:rPr lang="en-US" dirty="0"/>
              <a:t>https://github.com/apps/desktop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GUI tool to manage source code and code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3357" y="4264679"/>
            <a:ext cx="1891993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lvl="1" algn="ctr"/>
            <a:r>
              <a:rPr lang="en-US" sz="2800" dirty="0"/>
              <a:t>All are free!</a:t>
            </a:r>
          </a:p>
        </p:txBody>
      </p:sp>
    </p:spTree>
    <p:extLst>
      <p:ext uri="{BB962C8B-B14F-4D97-AF65-F5344CB8AC3E}">
        <p14:creationId xmlns:p14="http://schemas.microsoft.com/office/powerpoint/2010/main" val="256408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970" y="243840"/>
            <a:ext cx="7886700" cy="874394"/>
          </a:xfrm>
        </p:spPr>
        <p:txBody>
          <a:bodyPr>
            <a:normAutofit/>
          </a:bodyPr>
          <a:lstStyle/>
          <a:p>
            <a:r>
              <a:rPr lang="en-US" sz="3600" dirty="0"/>
              <a:t>GitHub Pages </a:t>
            </a:r>
            <a:r>
              <a:rPr lang="en-US" sz="3600" dirty="0"/>
              <a:t>https://pages.github.com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2560"/>
            <a:ext cx="7886700" cy="49276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GitHub pages serves websites directly from GitHub repositories</a:t>
            </a:r>
          </a:p>
          <a:p>
            <a:pPr lvl="1"/>
            <a:r>
              <a:rPr lang="en-US" dirty="0"/>
              <a:t>Need a GitHub account</a:t>
            </a:r>
          </a:p>
          <a:p>
            <a:pPr lvl="1"/>
            <a:r>
              <a:rPr lang="en-US" dirty="0"/>
              <a:t>The course website is hosted by GitHub Pages </a:t>
            </a:r>
            <a:r>
              <a:rPr lang="en-US" dirty="0"/>
              <a:t>https://ksuweb.github.io/IT3203/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Features</a:t>
            </a:r>
          </a:p>
          <a:p>
            <a:pPr lvl="1"/>
            <a:r>
              <a:rPr lang="en-US" dirty="0"/>
              <a:t>Provides free services for Git based projects.</a:t>
            </a:r>
          </a:p>
          <a:p>
            <a:pPr lvl="1"/>
            <a:r>
              <a:rPr lang="en-US" dirty="0"/>
              <a:t>Only hosts client-based web sites/apps (HTML/CSS/JavaScript)</a:t>
            </a:r>
          </a:p>
          <a:p>
            <a:pPr lvl="1"/>
            <a:r>
              <a:rPr lang="en-US" dirty="0"/>
              <a:t>Good </a:t>
            </a:r>
            <a:r>
              <a:rPr lang="en-US"/>
              <a:t>for frontend </a:t>
            </a:r>
            <a:r>
              <a:rPr lang="en-US" dirty="0"/>
              <a:t>development</a:t>
            </a:r>
          </a:p>
          <a:p>
            <a:r>
              <a:rPr lang="en-US" dirty="0"/>
              <a:t>How to set up a root level GitHub website?</a:t>
            </a:r>
          </a:p>
          <a:p>
            <a:pPr lvl="1"/>
            <a:r>
              <a:rPr lang="en-US" dirty="0"/>
              <a:t>https://www.khanacademy.org/computing/computer-programming/html-css/web-development-tools/a/hosting-your-website-on-github</a:t>
            </a:r>
            <a:r>
              <a:rPr lang="en-US" dirty="0"/>
              <a:t> </a:t>
            </a:r>
          </a:p>
          <a:p>
            <a:r>
              <a:rPr lang="en-US" dirty="0"/>
              <a:t>Also follow </a:t>
            </a:r>
            <a:r>
              <a:rPr lang="en-US" dirty="0"/>
              <a:t>https://pages.github.com</a:t>
            </a:r>
            <a:r>
              <a:rPr lang="en-US" dirty="0"/>
              <a:t> for quick setup for a project site (subsite in a subdirectory)</a:t>
            </a:r>
          </a:p>
          <a:p>
            <a:pPr lvl="1"/>
            <a:r>
              <a:rPr lang="en-US" dirty="0"/>
              <a:t>The guide to set up a website is right on this page. Please follow the steps:</a:t>
            </a:r>
          </a:p>
          <a:p>
            <a:pPr lvl="1"/>
            <a:r>
              <a:rPr lang="en-US" dirty="0"/>
              <a:t>First choose “project site” and then “Start from scratch”</a:t>
            </a:r>
          </a:p>
          <a:p>
            <a:pPr lvl="1"/>
            <a:r>
              <a:rPr lang="en-US" dirty="0"/>
              <a:t>Just follow the rest of the steps</a:t>
            </a:r>
          </a:p>
        </p:txBody>
      </p:sp>
    </p:spTree>
    <p:extLst>
      <p:ext uri="{BB962C8B-B14F-4D97-AF65-F5344CB8AC3E}">
        <p14:creationId xmlns:p14="http://schemas.microsoft.com/office/powerpoint/2010/main" val="201065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8A55A9-6D2E-10A2-20C3-62AA1BBD5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Manage repositories and source codes updates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D1DF5A-EAC5-606F-45B4-C398A1676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the built-in upload tools on the GitHub website</a:t>
            </a:r>
          </a:p>
          <a:p>
            <a:pPr lvl="1"/>
            <a:r>
              <a:rPr lang="en-US" dirty="0"/>
              <a:t>see the Khan Academy tutorial in previous slide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VS Code integrated GitHub extension – recommended</a:t>
            </a:r>
          </a:p>
          <a:p>
            <a:pPr lvl="1"/>
            <a:r>
              <a:rPr lang="en-US" dirty="0"/>
              <a:t>See next slide</a:t>
            </a:r>
          </a:p>
          <a:p>
            <a:r>
              <a:rPr lang="en-US" dirty="0"/>
              <a:t>Note in this class, we use GitHub extension more like a file publishing tool, rather than as source and version control tool.</a:t>
            </a:r>
          </a:p>
        </p:txBody>
      </p:sp>
    </p:spTree>
    <p:extLst>
      <p:ext uri="{BB962C8B-B14F-4D97-AF65-F5344CB8AC3E}">
        <p14:creationId xmlns:p14="http://schemas.microsoft.com/office/powerpoint/2010/main" val="102154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FDED-2077-B272-FC1B-EA70FAEBA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27" y="201326"/>
            <a:ext cx="7886700" cy="691514"/>
          </a:xfrm>
        </p:spPr>
        <p:txBody>
          <a:bodyPr>
            <a:normAutofit fontScale="90000"/>
          </a:bodyPr>
          <a:lstStyle/>
          <a:p>
            <a:r>
              <a:rPr lang="en-US" dirty="0"/>
              <a:t>Use Git Directly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BF59B-6EFA-B302-B9D5-B6C4A87D9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48" y="1144003"/>
            <a:ext cx="7886700" cy="1162317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Download and install Git system. See a quick setup</a:t>
            </a:r>
          </a:p>
          <a:p>
            <a:pPr lvl="1"/>
            <a:r>
              <a:rPr lang="en-US" dirty="0"/>
              <a:t>https://www.youtube.com/shorts/r-C7s15IvDM</a:t>
            </a:r>
            <a:r>
              <a:rPr lang="en-US" dirty="0"/>
              <a:t> </a:t>
            </a:r>
          </a:p>
          <a:p>
            <a:r>
              <a:rPr lang="en-US" dirty="0"/>
              <a:t>For more info, visit</a:t>
            </a:r>
          </a:p>
          <a:p>
            <a:pPr lvl="1"/>
            <a:r>
              <a:rPr lang="en-US" dirty="0"/>
              <a:t>https://code.visualstudio.com/docs/sourcecontrol/overview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https://code.visualstudio.com/docs/sourcecontrol/intro-to-git</a:t>
            </a:r>
            <a:r>
              <a:rPr lang="en-US" dirty="0"/>
              <a:t> </a:t>
            </a:r>
          </a:p>
        </p:txBody>
      </p:sp>
      <p:pic>
        <p:nvPicPr>
          <p:cNvPr id="5" name="Picture 4" descr="Screenshot of a software interface showing a source control panel with instructions to install Git for Windows. The panel includes a blue &quot;Download Git for Windows&quot; button, links for Git guides, troubleshooting, and additional source control providers from the Marketplace.&#10;&#10;AI-generated content may be incorrect.">
            <a:extLst>
              <a:ext uri="{FF2B5EF4-FFF2-40B4-BE49-F238E27FC236}">
                <a16:creationId xmlns:a16="http://schemas.microsoft.com/office/drawing/2014/main" id="{772B90D2-F7F6-829D-75D4-AF4EFAD569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910" b="33015"/>
          <a:stretch/>
        </p:blipFill>
        <p:spPr>
          <a:xfrm>
            <a:off x="628650" y="2577804"/>
            <a:ext cx="7886700" cy="295451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879B38B-7EB3-BDDE-0FE4-77D63AA8C12A}"/>
              </a:ext>
            </a:extLst>
          </p:cNvPr>
          <p:cNvSpPr/>
          <p:nvPr/>
        </p:nvSpPr>
        <p:spPr>
          <a:xfrm>
            <a:off x="512327" y="4055059"/>
            <a:ext cx="721360" cy="67126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48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CBC60-62AA-32ED-A4BE-C3448EFF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VS Code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A3C9-8494-F600-D1B7-170C06B7C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037175" cy="4351338"/>
          </a:xfrm>
        </p:spPr>
        <p:txBody>
          <a:bodyPr/>
          <a:lstStyle/>
          <a:p>
            <a:r>
              <a:rPr lang="en-US" dirty="0"/>
              <a:t>Recommended</a:t>
            </a:r>
          </a:p>
          <a:p>
            <a:pPr lvl="1"/>
            <a:r>
              <a:rPr lang="en-US" dirty="0"/>
              <a:t>Live Preview</a:t>
            </a:r>
          </a:p>
          <a:p>
            <a:pPr lvl="1"/>
            <a:r>
              <a:rPr lang="en-US" dirty="0"/>
              <a:t>GitHub Copilot</a:t>
            </a:r>
          </a:p>
          <a:p>
            <a:pPr lvl="1"/>
            <a:r>
              <a:rPr lang="en-US" dirty="0"/>
              <a:t>GitHub Copilot Chat</a:t>
            </a:r>
          </a:p>
          <a:p>
            <a:r>
              <a:rPr lang="en-US" dirty="0"/>
              <a:t>Go to Extensions and look for these to install</a:t>
            </a:r>
          </a:p>
        </p:txBody>
      </p:sp>
      <p:pic>
        <p:nvPicPr>
          <p:cNvPr id="5" name="Picture 4" descr="Screenshot of Visual Studio Code Extensions panel showing three installed extensions: GitHub Copilot with description &quot;Your AI pair programmer,&quot; GitHub Copilot Chat described as &quot;AI chat features powered by Copilot,&quot; and Live Preview described as &quot;Hosts a local server in your workspace.&quot; Each extension includes an icon, publisher name, installation time in milliseconds, and a settings gear icon on a dark-themed interface.&#10;&#10;AI-generated content may be incorrect.">
            <a:extLst>
              <a:ext uri="{FF2B5EF4-FFF2-40B4-BE49-F238E27FC236}">
                <a16:creationId xmlns:a16="http://schemas.microsoft.com/office/drawing/2014/main" id="{A7005990-B856-9E28-CACF-EA2A2BD86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905" y="1804378"/>
            <a:ext cx="4982270" cy="437258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7883467-9FA9-0167-BB16-625E74ED2A6B}"/>
              </a:ext>
            </a:extLst>
          </p:cNvPr>
          <p:cNvSpPr/>
          <p:nvPr/>
        </p:nvSpPr>
        <p:spPr>
          <a:xfrm>
            <a:off x="3665825" y="4481779"/>
            <a:ext cx="721360" cy="67126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03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F09D-F2B5-D09C-982D-E3992938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07502"/>
            <a:ext cx="7886700" cy="1325563"/>
          </a:xfrm>
        </p:spPr>
        <p:txBody>
          <a:bodyPr/>
          <a:lstStyle/>
          <a:p>
            <a:r>
              <a:rPr lang="en-US" dirty="0"/>
              <a:t>Live 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4EEA0-E160-F99C-E9AA-6E766D6DB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840" y="281305"/>
            <a:ext cx="5172710" cy="1019175"/>
          </a:xfrm>
        </p:spPr>
        <p:txBody>
          <a:bodyPr/>
          <a:lstStyle/>
          <a:p>
            <a:r>
              <a:rPr lang="en-US" dirty="0"/>
              <a:t>Live preview allows instant preview while editing</a:t>
            </a:r>
          </a:p>
        </p:txBody>
      </p:sp>
      <p:pic>
        <p:nvPicPr>
          <p:cNvPr id="5" name="Picture 4" descr="Screenshot of a webpage showing a course titled &quot;KSU IT 3203 Introduction to Web Development&quot; with sections for course introduction, tools used, content, learning resources, and instructor materials. The page uses a simple layout with blue hyperlinks, buttons for tools like Visual Studio Code and GitHub Pages, and organized text content for easy navigation.&#10;&#10;AI-generated content may be incorrect.">
            <a:extLst>
              <a:ext uri="{FF2B5EF4-FFF2-40B4-BE49-F238E27FC236}">
                <a16:creationId xmlns:a16="http://schemas.microsoft.com/office/drawing/2014/main" id="{ED4111A5-9D60-75B8-C095-C2556E127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065"/>
            <a:ext cx="9144000" cy="542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0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BA56B-98CB-1201-0DB4-0D8FFFF9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EB771-B73C-1F91-B51A-8CE3769E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" y="192407"/>
            <a:ext cx="7886700" cy="955674"/>
          </a:xfrm>
        </p:spPr>
        <p:txBody>
          <a:bodyPr>
            <a:normAutofit/>
          </a:bodyPr>
          <a:lstStyle/>
          <a:p>
            <a:r>
              <a:rPr lang="en-US" sz="4000" dirty="0"/>
              <a:t>Tool Alternatives (for reference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075E-A705-0AE4-4E14-94A73E854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174" y="1442720"/>
            <a:ext cx="7971176" cy="473424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Code editor or IDE (integrate development environment)</a:t>
            </a:r>
          </a:p>
          <a:p>
            <a:pPr lvl="1"/>
            <a:r>
              <a:rPr lang="en-US" dirty="0"/>
              <a:t>Notepad ++ </a:t>
            </a:r>
            <a:r>
              <a:rPr lang="en-US" dirty="0"/>
              <a:t>https://notepad-plus-plus.org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Honorable mention: </a:t>
            </a:r>
            <a:r>
              <a:rPr lang="en-US" dirty="0"/>
              <a:t>http://brackets.io</a:t>
            </a:r>
            <a:endParaRPr lang="en-US" dirty="0"/>
          </a:p>
          <a:p>
            <a:r>
              <a:rPr lang="en-US" b="1" i="1" dirty="0"/>
              <a:t>GitHub Desktop </a:t>
            </a:r>
            <a:r>
              <a:rPr lang="en-US" dirty="0"/>
              <a:t>to Manage GitHub Repositories</a:t>
            </a:r>
          </a:p>
          <a:p>
            <a:pPr lvl="1"/>
            <a:r>
              <a:rPr lang="en-US" dirty="0"/>
              <a:t>[Video] Git, GitHub, &amp; GitHub Desktop for beginners </a:t>
            </a:r>
            <a:r>
              <a:rPr lang="en-US" dirty="0"/>
              <a:t>https://www.youtube.com/watch?v=8Dd7KRpKeaE</a:t>
            </a:r>
            <a:endParaRPr lang="en-US" dirty="0"/>
          </a:p>
          <a:p>
            <a:pPr lvl="1"/>
            <a:r>
              <a:rPr lang="en-US" dirty="0"/>
              <a:t>How to Use GitHub Desktop: A GitHub Desktop Tutorial </a:t>
            </a:r>
            <a:r>
              <a:rPr lang="en-US" dirty="0"/>
              <a:t>https://www.simplilearn.com/how-to-use-github-desktop-tutorial-article</a:t>
            </a:r>
            <a:r>
              <a:rPr lang="en-US" dirty="0"/>
              <a:t> </a:t>
            </a:r>
          </a:p>
          <a:p>
            <a:r>
              <a:rPr lang="en-US" dirty="0"/>
              <a:t>WinSCP </a:t>
            </a:r>
            <a:r>
              <a:rPr lang="en-US" dirty="0"/>
              <a:t>https://winscp.net</a:t>
            </a:r>
            <a:endParaRPr lang="en-US" dirty="0"/>
          </a:p>
          <a:p>
            <a:r>
              <a:rPr lang="en-US" dirty="0"/>
              <a:t>You may use other tools if you are familiar with them.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889A8-678D-398B-1FA0-7F3B639B3AF0}"/>
              </a:ext>
            </a:extLst>
          </p:cNvPr>
          <p:cNvSpPr/>
          <p:nvPr/>
        </p:nvSpPr>
        <p:spPr>
          <a:xfrm>
            <a:off x="7189247" y="1690689"/>
            <a:ext cx="1410579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lvl="1" algn="ctr"/>
            <a:r>
              <a:rPr lang="en-US" sz="2000" dirty="0"/>
              <a:t>All are free!</a:t>
            </a:r>
          </a:p>
        </p:txBody>
      </p:sp>
    </p:spTree>
    <p:extLst>
      <p:ext uri="{BB962C8B-B14F-4D97-AF65-F5344CB8AC3E}">
        <p14:creationId xmlns:p14="http://schemas.microsoft.com/office/powerpoint/2010/main" val="609191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2EEB-88B0-CF01-1A6D-3E51E223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77594"/>
          </a:xfrm>
        </p:spPr>
        <p:txBody>
          <a:bodyPr>
            <a:noAutofit/>
          </a:bodyPr>
          <a:lstStyle/>
          <a:p>
            <a:r>
              <a:rPr lang="en-US" sz="3200" dirty="0"/>
              <a:t>Other Free Web Hosting that supports server-side development (for reference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39FD0-BE56-439B-A7BC-015A646C4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Microsoft Azure </a:t>
            </a:r>
          </a:p>
          <a:p>
            <a:pPr lvl="1"/>
            <a:r>
              <a:rPr lang="en-US" dirty="0"/>
              <a:t>https://azureforeducation.microsoft.com/en-us/Institutions</a:t>
            </a:r>
            <a:endParaRPr lang="en-US" dirty="0"/>
          </a:p>
          <a:p>
            <a:pPr lvl="1"/>
            <a:r>
              <a:rPr lang="en-US" dirty="0"/>
              <a:t>More advanced features and more server-side support</a:t>
            </a:r>
          </a:p>
          <a:p>
            <a:pPr lvl="1"/>
            <a:r>
              <a:rPr lang="en-US" dirty="0"/>
              <a:t>Good for advanced web development class</a:t>
            </a:r>
          </a:p>
          <a:p>
            <a:pPr lvl="1"/>
            <a:r>
              <a:rPr lang="en-US" dirty="0"/>
              <a:t>Sample Azure hosted sites for other web classes</a:t>
            </a:r>
          </a:p>
          <a:p>
            <a:pPr lvl="2"/>
            <a:r>
              <a:rPr lang="en-US" dirty="0"/>
              <a:t>https://it4203.azurewebsites.net</a:t>
            </a:r>
            <a:endParaRPr lang="en-US" dirty="0"/>
          </a:p>
          <a:p>
            <a:pPr lvl="2"/>
            <a:r>
              <a:rPr lang="en-US" dirty="0"/>
              <a:t>https://it4213.azurewebsites.net</a:t>
            </a:r>
            <a:endParaRPr lang="en-US" dirty="0"/>
          </a:p>
          <a:p>
            <a:pPr lvl="2"/>
            <a:r>
              <a:rPr lang="en-US" dirty="0"/>
              <a:t>https://it5443.azurewebsites.net</a:t>
            </a:r>
            <a:r>
              <a:rPr lang="en-US" dirty="0"/>
              <a:t> </a:t>
            </a:r>
          </a:p>
          <a:p>
            <a:r>
              <a:rPr lang="en-US" dirty="0"/>
              <a:t>Others</a:t>
            </a:r>
          </a:p>
          <a:p>
            <a:pPr lvl="1"/>
            <a:r>
              <a:rPr lang="en-US" dirty="0"/>
              <a:t>https://render.com</a:t>
            </a:r>
            <a:r>
              <a:rPr lang="en-US" dirty="0"/>
              <a:t> – also uses GitHub for repositories</a:t>
            </a:r>
          </a:p>
          <a:p>
            <a:pPr lvl="1"/>
            <a:r>
              <a:rPr lang="en-US" dirty="0"/>
              <a:t>https://glitch.com</a:t>
            </a:r>
            <a:r>
              <a:rPr lang="en-US" dirty="0"/>
              <a:t> – using online code editor</a:t>
            </a:r>
          </a:p>
        </p:txBody>
      </p:sp>
    </p:spTree>
    <p:extLst>
      <p:ext uri="{BB962C8B-B14F-4D97-AF65-F5344CB8AC3E}">
        <p14:creationId xmlns:p14="http://schemas.microsoft.com/office/powerpoint/2010/main" val="43451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8889</TotalTime>
  <Words>672</Words>
  <Application>Microsoft Office PowerPoint</Application>
  <PresentationFormat>On-screen Show (4:3)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Setting up a Frontend Web Development Environment</vt:lpstr>
      <vt:lpstr>Overview</vt:lpstr>
      <vt:lpstr>Development Environment Summary</vt:lpstr>
      <vt:lpstr>GitHub Pages https://pages.github.com</vt:lpstr>
      <vt:lpstr>Manage repositories and source codes updates</vt:lpstr>
      <vt:lpstr>Use Git Directly in VS Code</vt:lpstr>
      <vt:lpstr>Useful VS Code Extensions</vt:lpstr>
      <vt:lpstr>Live Preview</vt:lpstr>
      <vt:lpstr>Tool Alternatives (for reference only)</vt:lpstr>
      <vt:lpstr>Other Free Web Hosting that supports server-side development (for reference only)</vt:lpstr>
    </vt:vector>
  </TitlesOfParts>
  <Company>Kennesaw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Environment</dc:title>
  <dc:creator>Guangzhi Zheng</dc:creator>
  <cp:lastModifiedBy>Jack Zheng</cp:lastModifiedBy>
  <cp:revision>70</cp:revision>
  <dcterms:created xsi:type="dcterms:W3CDTF">2017-08-16T18:01:16Z</dcterms:created>
  <dcterms:modified xsi:type="dcterms:W3CDTF">2026-04-24T17:59:10Z</dcterms:modified>
</cp:coreProperties>
</file>