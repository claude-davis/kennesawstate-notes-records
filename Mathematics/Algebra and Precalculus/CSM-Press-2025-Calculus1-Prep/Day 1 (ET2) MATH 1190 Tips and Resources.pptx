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64" r:id="rId6"/>
    <p:sldId id="257" r:id="rId7"/>
    <p:sldId id="265" r:id="rId8"/>
    <p:sldId id="262" r:id="rId9"/>
    <p:sldId id="263" r:id="rId10"/>
    <p:sldId id="267" r:id="rId11"/>
    <p:sldId id="268" r:id="rId12"/>
    <p:sldId id="270" r:id="rId1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94"/>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stin Deutsch" userId="317d3870-7f9b-438f-aeba-8a1544be72a1" providerId="ADAL" clId="{D449E9F1-FF7F-428D-BD09-0E51230F9A9A}"/>
    <pc:docChg chg="modSld">
      <pc:chgData name="Dustin Deutsch" userId="317d3870-7f9b-438f-aeba-8a1544be72a1" providerId="ADAL" clId="{D449E9F1-FF7F-428D-BD09-0E51230F9A9A}" dt="2025-07-21T14:32:23.414" v="45" actId="20577"/>
      <pc:docMkLst>
        <pc:docMk/>
      </pc:docMkLst>
      <pc:sldChg chg="modSp mod">
        <pc:chgData name="Dustin Deutsch" userId="317d3870-7f9b-438f-aeba-8a1544be72a1" providerId="ADAL" clId="{D449E9F1-FF7F-428D-BD09-0E51230F9A9A}" dt="2025-07-21T14:30:56.984" v="1" actId="20577"/>
        <pc:sldMkLst>
          <pc:docMk/>
          <pc:sldMk cId="422095949" sldId="256"/>
        </pc:sldMkLst>
        <pc:spChg chg="mod">
          <ac:chgData name="Dustin Deutsch" userId="317d3870-7f9b-438f-aeba-8a1544be72a1" providerId="ADAL" clId="{D449E9F1-FF7F-428D-BD09-0E51230F9A9A}" dt="2025-07-21T14:30:56.984" v="1" actId="20577"/>
          <ac:spMkLst>
            <pc:docMk/>
            <pc:sldMk cId="422095949" sldId="256"/>
            <ac:spMk id="3" creationId="{8A35E92A-F551-B44B-B0E0-013059FA3283}"/>
          </ac:spMkLst>
        </pc:spChg>
      </pc:sldChg>
      <pc:sldChg chg="modSp mod">
        <pc:chgData name="Dustin Deutsch" userId="317d3870-7f9b-438f-aeba-8a1544be72a1" providerId="ADAL" clId="{D449E9F1-FF7F-428D-BD09-0E51230F9A9A}" dt="2025-07-21T14:32:23.414" v="45" actId="20577"/>
        <pc:sldMkLst>
          <pc:docMk/>
          <pc:sldMk cId="2960185368" sldId="257"/>
        </pc:sldMkLst>
        <pc:spChg chg="mod">
          <ac:chgData name="Dustin Deutsch" userId="317d3870-7f9b-438f-aeba-8a1544be72a1" providerId="ADAL" clId="{D449E9F1-FF7F-428D-BD09-0E51230F9A9A}" dt="2025-07-21T14:32:23.414" v="45" actId="20577"/>
          <ac:spMkLst>
            <pc:docMk/>
            <pc:sldMk cId="2960185368" sldId="257"/>
            <ac:spMk id="3" creationId="{66DF3FBF-D020-4D5C-87E7-E6DFF71C33BB}"/>
          </ac:spMkLst>
        </pc:spChg>
      </pc:sldChg>
      <pc:sldChg chg="modSp mod">
        <pc:chgData name="Dustin Deutsch" userId="317d3870-7f9b-438f-aeba-8a1544be72a1" providerId="ADAL" clId="{D449E9F1-FF7F-428D-BD09-0E51230F9A9A}" dt="2025-07-21T14:31:31.189" v="3" actId="20577"/>
        <pc:sldMkLst>
          <pc:docMk/>
          <pc:sldMk cId="3256848821" sldId="263"/>
        </pc:sldMkLst>
        <pc:spChg chg="mod">
          <ac:chgData name="Dustin Deutsch" userId="317d3870-7f9b-438f-aeba-8a1544be72a1" providerId="ADAL" clId="{D449E9F1-FF7F-428D-BD09-0E51230F9A9A}" dt="2025-07-21T14:31:31.189" v="3" actId="20577"/>
          <ac:spMkLst>
            <pc:docMk/>
            <pc:sldMk cId="3256848821" sldId="263"/>
            <ac:spMk id="3" creationId="{66DF3FBF-D020-4D5C-87E7-E6DFF71C33B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882" indent="0" algn="ctr">
              <a:buNone/>
              <a:defRPr sz="1500"/>
            </a:lvl2pPr>
            <a:lvl3pPr marL="685766" indent="0" algn="ctr">
              <a:buNone/>
              <a:defRPr sz="1351"/>
            </a:lvl3pPr>
            <a:lvl4pPr marL="1028649" indent="0" algn="ctr">
              <a:buNone/>
              <a:defRPr sz="1200"/>
            </a:lvl4pPr>
            <a:lvl5pPr marL="1371532" indent="0" algn="ctr">
              <a:buNone/>
              <a:defRPr sz="1200"/>
            </a:lvl5pPr>
            <a:lvl6pPr marL="1714414" indent="0" algn="ctr">
              <a:buNone/>
              <a:defRPr sz="1200"/>
            </a:lvl6pPr>
            <a:lvl7pPr marL="2057298" indent="0" algn="ctr">
              <a:buNone/>
              <a:defRPr sz="1200"/>
            </a:lvl7pPr>
            <a:lvl8pPr marL="2400180" indent="0" algn="ctr">
              <a:buNone/>
              <a:defRPr sz="1200"/>
            </a:lvl8pPr>
            <a:lvl9pPr marL="2743062"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628651" y="4874138"/>
            <a:ext cx="2057400" cy="273844"/>
          </a:xfrm>
        </p:spPr>
        <p:txBody>
          <a:bodyPr/>
          <a:lstStyle/>
          <a:p>
            <a:fld id="{02989721-2E5E-A74E-BDA4-3350CBAAF42E}" type="datetimeFigureOut">
              <a:rPr lang="en-US" smtClean="0"/>
              <a:t>7/21/2025</a:t>
            </a:fld>
            <a:endParaRPr lang="en-US"/>
          </a:p>
        </p:txBody>
      </p:sp>
      <p:sp>
        <p:nvSpPr>
          <p:cNvPr id="5" name="Footer Placeholder 4"/>
          <p:cNvSpPr>
            <a:spLocks noGrp="1"/>
          </p:cNvSpPr>
          <p:nvPr>
            <p:ph type="ftr" sz="quarter" idx="11"/>
          </p:nvPr>
        </p:nvSpPr>
        <p:spPr>
          <a:xfrm>
            <a:off x="3028951" y="4874138"/>
            <a:ext cx="3086100" cy="273844"/>
          </a:xfrm>
        </p:spPr>
        <p:txBody>
          <a:bodyPr/>
          <a:lstStyle/>
          <a:p>
            <a:endParaRPr lang="en-US"/>
          </a:p>
        </p:txBody>
      </p:sp>
      <p:sp>
        <p:nvSpPr>
          <p:cNvPr id="6" name="Slide Number Placeholder 5"/>
          <p:cNvSpPr>
            <a:spLocks noGrp="1"/>
          </p:cNvSpPr>
          <p:nvPr>
            <p:ph type="sldNum" sz="quarter" idx="12"/>
          </p:nvPr>
        </p:nvSpPr>
        <p:spPr>
          <a:xfrm>
            <a:off x="6457951" y="4874138"/>
            <a:ext cx="2057400" cy="273844"/>
          </a:xfrm>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15670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89721-2E5E-A74E-BDA4-3350CBAAF42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523822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90" y="1282308"/>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90" y="3442098"/>
            <a:ext cx="7886700" cy="1125140"/>
          </a:xfrm>
        </p:spPr>
        <p:txBody>
          <a:bodyPr/>
          <a:lstStyle>
            <a:lvl1pPr marL="0" indent="0">
              <a:buNone/>
              <a:defRPr sz="1800">
                <a:solidFill>
                  <a:schemeClr val="tx1">
                    <a:tint val="75000"/>
                  </a:schemeClr>
                </a:solidFill>
              </a:defRPr>
            </a:lvl1pPr>
            <a:lvl2pPr marL="342882" indent="0">
              <a:buNone/>
              <a:defRPr sz="1500">
                <a:solidFill>
                  <a:schemeClr val="tx1">
                    <a:tint val="75000"/>
                  </a:schemeClr>
                </a:solidFill>
              </a:defRPr>
            </a:lvl2pPr>
            <a:lvl3pPr marL="685766" indent="0">
              <a:buNone/>
              <a:defRPr sz="1351">
                <a:solidFill>
                  <a:schemeClr val="tx1">
                    <a:tint val="75000"/>
                  </a:schemeClr>
                </a:solidFill>
              </a:defRPr>
            </a:lvl3pPr>
            <a:lvl4pPr marL="1028649" indent="0">
              <a:buNone/>
              <a:defRPr sz="1200">
                <a:solidFill>
                  <a:schemeClr val="tx1">
                    <a:tint val="75000"/>
                  </a:schemeClr>
                </a:solidFill>
              </a:defRPr>
            </a:lvl4pPr>
            <a:lvl5pPr marL="1371532" indent="0">
              <a:buNone/>
              <a:defRPr sz="1200">
                <a:solidFill>
                  <a:schemeClr val="tx1">
                    <a:tint val="75000"/>
                  </a:schemeClr>
                </a:solidFill>
              </a:defRPr>
            </a:lvl5pPr>
            <a:lvl6pPr marL="1714414" indent="0">
              <a:buNone/>
              <a:defRPr sz="1200">
                <a:solidFill>
                  <a:schemeClr val="tx1">
                    <a:tint val="75000"/>
                  </a:schemeClr>
                </a:solidFill>
              </a:defRPr>
            </a:lvl6pPr>
            <a:lvl7pPr marL="2057298" indent="0">
              <a:buNone/>
              <a:defRPr sz="1200">
                <a:solidFill>
                  <a:schemeClr val="tx1">
                    <a:tint val="75000"/>
                  </a:schemeClr>
                </a:solidFill>
              </a:defRPr>
            </a:lvl7pPr>
            <a:lvl8pPr marL="2400180" indent="0">
              <a:buNone/>
              <a:defRPr sz="1200">
                <a:solidFill>
                  <a:schemeClr val="tx1">
                    <a:tint val="75000"/>
                  </a:schemeClr>
                </a:solidFill>
              </a:defRPr>
            </a:lvl8pPr>
            <a:lvl9pPr marL="2743062"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89721-2E5E-A74E-BDA4-3350CBAAF42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898844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1"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989721-2E5E-A74E-BDA4-3350CBAAF42E}"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1864669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3"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882" indent="0">
              <a:buNone/>
              <a:defRPr sz="1500" b="1"/>
            </a:lvl2pPr>
            <a:lvl3pPr marL="685766" indent="0">
              <a:buNone/>
              <a:defRPr sz="1351" b="1"/>
            </a:lvl3pPr>
            <a:lvl4pPr marL="1028649" indent="0">
              <a:buNone/>
              <a:defRPr sz="1200" b="1"/>
            </a:lvl4pPr>
            <a:lvl5pPr marL="1371532" indent="0">
              <a:buNone/>
              <a:defRPr sz="1200" b="1"/>
            </a:lvl5pPr>
            <a:lvl6pPr marL="1714414" indent="0">
              <a:buNone/>
              <a:defRPr sz="1200" b="1"/>
            </a:lvl6pPr>
            <a:lvl7pPr marL="2057298" indent="0">
              <a:buNone/>
              <a:defRPr sz="1200" b="1"/>
            </a:lvl7pPr>
            <a:lvl8pPr marL="2400180" indent="0">
              <a:buNone/>
              <a:defRPr sz="1200" b="1"/>
            </a:lvl8pPr>
            <a:lvl9pPr marL="2743062"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7"/>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3" y="1260872"/>
            <a:ext cx="3887391" cy="617934"/>
          </a:xfrm>
        </p:spPr>
        <p:txBody>
          <a:bodyPr anchor="b"/>
          <a:lstStyle>
            <a:lvl1pPr marL="0" indent="0">
              <a:buNone/>
              <a:defRPr sz="1800" b="1"/>
            </a:lvl1pPr>
            <a:lvl2pPr marL="342882" indent="0">
              <a:buNone/>
              <a:defRPr sz="1500" b="1"/>
            </a:lvl2pPr>
            <a:lvl3pPr marL="685766" indent="0">
              <a:buNone/>
              <a:defRPr sz="1351" b="1"/>
            </a:lvl3pPr>
            <a:lvl4pPr marL="1028649" indent="0">
              <a:buNone/>
              <a:defRPr sz="1200" b="1"/>
            </a:lvl4pPr>
            <a:lvl5pPr marL="1371532" indent="0">
              <a:buNone/>
              <a:defRPr sz="1200" b="1"/>
            </a:lvl5pPr>
            <a:lvl6pPr marL="1714414" indent="0">
              <a:buNone/>
              <a:defRPr sz="1200" b="1"/>
            </a:lvl6pPr>
            <a:lvl7pPr marL="2057298" indent="0">
              <a:buNone/>
              <a:defRPr sz="1200" b="1"/>
            </a:lvl7pPr>
            <a:lvl8pPr marL="2400180" indent="0">
              <a:buNone/>
              <a:defRPr sz="1200" b="1"/>
            </a:lvl8pPr>
            <a:lvl9pPr marL="274306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3" y="1878807"/>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989721-2E5E-A74E-BDA4-3350CBAAF42E}" type="datetimeFigureOut">
              <a:rPr lang="en-US" smtClean="0"/>
              <a:t>7/21/2025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18132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989721-2E5E-A74E-BDA4-3350CBAAF42E}" type="datetimeFigureOut">
              <a:rPr lang="en-US" smtClean="0"/>
              <a:t>7/21/2025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653326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989721-2E5E-A74E-BDA4-3350CBAAF42E}" type="datetimeFigureOut">
              <a:rPr lang="en-US" smtClean="0"/>
              <a:t>7/21/2025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1983971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9"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3" y="740573"/>
            <a:ext cx="4629151"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4"/>
            <a:ext cx="2949179" cy="2858691"/>
          </a:xfrm>
        </p:spPr>
        <p:txBody>
          <a:bodyPr/>
          <a:lstStyle>
            <a:lvl1pPr marL="0" indent="0">
              <a:buNone/>
              <a:defRPr sz="1200"/>
            </a:lvl1pPr>
            <a:lvl2pPr marL="342882" indent="0">
              <a:buNone/>
              <a:defRPr sz="1051"/>
            </a:lvl2pPr>
            <a:lvl3pPr marL="685766" indent="0">
              <a:buNone/>
              <a:defRPr sz="900"/>
            </a:lvl3pPr>
            <a:lvl4pPr marL="1028649" indent="0">
              <a:buNone/>
              <a:defRPr sz="751"/>
            </a:lvl4pPr>
            <a:lvl5pPr marL="1371532" indent="0">
              <a:buNone/>
              <a:defRPr sz="751"/>
            </a:lvl5pPr>
            <a:lvl6pPr marL="1714414" indent="0">
              <a:buNone/>
              <a:defRPr sz="751"/>
            </a:lvl6pPr>
            <a:lvl7pPr marL="2057298" indent="0">
              <a:buNone/>
              <a:defRPr sz="751"/>
            </a:lvl7pPr>
            <a:lvl8pPr marL="2400180" indent="0">
              <a:buNone/>
              <a:defRPr sz="751"/>
            </a:lvl8pPr>
            <a:lvl9pPr marL="2743062"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fld id="{02989721-2E5E-A74E-BDA4-3350CBAAF42E}"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065882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9"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3" y="740573"/>
            <a:ext cx="4629151" cy="3655219"/>
          </a:xfrm>
        </p:spPr>
        <p:txBody>
          <a:bodyPr anchor="t"/>
          <a:lstStyle>
            <a:lvl1pPr marL="0" indent="0">
              <a:buNone/>
              <a:defRPr sz="2400"/>
            </a:lvl1pPr>
            <a:lvl2pPr marL="342882" indent="0">
              <a:buNone/>
              <a:defRPr sz="2100"/>
            </a:lvl2pPr>
            <a:lvl3pPr marL="685766" indent="0">
              <a:buNone/>
              <a:defRPr sz="1800"/>
            </a:lvl3pPr>
            <a:lvl4pPr marL="1028649" indent="0">
              <a:buNone/>
              <a:defRPr sz="1500"/>
            </a:lvl4pPr>
            <a:lvl5pPr marL="1371532" indent="0">
              <a:buNone/>
              <a:defRPr sz="1500"/>
            </a:lvl5pPr>
            <a:lvl6pPr marL="1714414" indent="0">
              <a:buNone/>
              <a:defRPr sz="1500"/>
            </a:lvl6pPr>
            <a:lvl7pPr marL="2057298" indent="0">
              <a:buNone/>
              <a:defRPr sz="1500"/>
            </a:lvl7pPr>
            <a:lvl8pPr marL="2400180" indent="0">
              <a:buNone/>
              <a:defRPr sz="1500"/>
            </a:lvl8pPr>
            <a:lvl9pPr marL="2743062"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4"/>
            <a:ext cx="2949179" cy="2858691"/>
          </a:xfrm>
        </p:spPr>
        <p:txBody>
          <a:bodyPr/>
          <a:lstStyle>
            <a:lvl1pPr marL="0" indent="0">
              <a:buNone/>
              <a:defRPr sz="1200"/>
            </a:lvl1pPr>
            <a:lvl2pPr marL="342882" indent="0">
              <a:buNone/>
              <a:defRPr sz="1051"/>
            </a:lvl2pPr>
            <a:lvl3pPr marL="685766" indent="0">
              <a:buNone/>
              <a:defRPr sz="900"/>
            </a:lvl3pPr>
            <a:lvl4pPr marL="1028649" indent="0">
              <a:buNone/>
              <a:defRPr sz="751"/>
            </a:lvl4pPr>
            <a:lvl5pPr marL="1371532" indent="0">
              <a:buNone/>
              <a:defRPr sz="751"/>
            </a:lvl5pPr>
            <a:lvl6pPr marL="1714414" indent="0">
              <a:buNone/>
              <a:defRPr sz="751"/>
            </a:lvl6pPr>
            <a:lvl7pPr marL="2057298" indent="0">
              <a:buNone/>
              <a:defRPr sz="751"/>
            </a:lvl7pPr>
            <a:lvl8pPr marL="2400180" indent="0">
              <a:buNone/>
              <a:defRPr sz="751"/>
            </a:lvl8pPr>
            <a:lvl9pPr marL="2743062" indent="0">
              <a:buNone/>
              <a:defRPr sz="751"/>
            </a:lvl9pPr>
          </a:lstStyle>
          <a:p>
            <a:pPr lvl="0"/>
            <a:r>
              <a:rPr lang="en-US"/>
              <a:t>Click to edit Master text styles</a:t>
            </a:r>
          </a:p>
        </p:txBody>
      </p:sp>
      <p:sp>
        <p:nvSpPr>
          <p:cNvPr id="5" name="Date Placeholder 4"/>
          <p:cNvSpPr>
            <a:spLocks noGrp="1"/>
          </p:cNvSpPr>
          <p:nvPr>
            <p:ph type="dt" sz="half" idx="10"/>
          </p:nvPr>
        </p:nvSpPr>
        <p:spPr/>
        <p:txBody>
          <a:bodyPr/>
          <a:lstStyle/>
          <a:p>
            <a:fld id="{02989721-2E5E-A74E-BDA4-3350CBAAF42E}"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491588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89721-2E5E-A74E-BDA4-3350CBAAF42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2314641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7" y="273848"/>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2" y="273848"/>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89721-2E5E-A74E-BDA4-3350CBAAF42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0EFFAF-D776-0E4A-B23C-093906A319D0}" type="slidenum">
              <a:rPr lang="en-US" smtClean="0"/>
              <a:t>‹#›</a:t>
            </a:fld>
            <a:endParaRPr lang="en-US"/>
          </a:p>
        </p:txBody>
      </p:sp>
    </p:spTree>
    <p:extLst>
      <p:ext uri="{BB962C8B-B14F-4D97-AF65-F5344CB8AC3E}">
        <p14:creationId xmlns:p14="http://schemas.microsoft.com/office/powerpoint/2010/main" val="934404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1"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1"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2989721-2E5E-A74E-BDA4-3350CBAAF42E}" type="datetimeFigureOut">
              <a:rPr lang="en-US" smtClean="0"/>
              <a:t>7/21/2025</a:t>
            </a:fld>
            <a:endParaRPr lang="en-US"/>
          </a:p>
        </p:txBody>
      </p:sp>
      <p:sp>
        <p:nvSpPr>
          <p:cNvPr id="5" name="Footer Placeholder 4"/>
          <p:cNvSpPr>
            <a:spLocks noGrp="1"/>
          </p:cNvSpPr>
          <p:nvPr>
            <p:ph type="ftr" sz="quarter" idx="3"/>
          </p:nvPr>
        </p:nvSpPr>
        <p:spPr>
          <a:xfrm>
            <a:off x="3028951"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1"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F40EFFAF-D776-0E4A-B23C-093906A319D0}" type="slidenum">
              <a:rPr lang="en-US" smtClean="0"/>
              <a:t>‹#›</a:t>
            </a:fld>
            <a:endParaRPr lang="en-US"/>
          </a:p>
        </p:txBody>
      </p:sp>
    </p:spTree>
    <p:extLst>
      <p:ext uri="{BB962C8B-B14F-4D97-AF65-F5344CB8AC3E}">
        <p14:creationId xmlns:p14="http://schemas.microsoft.com/office/powerpoint/2010/main" val="3543424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766"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2" indent="-171442" algn="l" defTabSz="685766"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26" indent="-171442" algn="l" defTabSz="685766"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08" indent="-171442" algn="l" defTabSz="685766"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91"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4pPr>
      <a:lvl5pPr marL="1542973"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5pPr>
      <a:lvl6pPr marL="1885857"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06" indent="-171442" algn="l" defTabSz="685766"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66" rtl="0" eaLnBrk="1" latinLnBrk="0" hangingPunct="1">
        <a:defRPr sz="1351" kern="1200">
          <a:solidFill>
            <a:schemeClr val="tx1"/>
          </a:solidFill>
          <a:latin typeface="+mn-lt"/>
          <a:ea typeface="+mn-ea"/>
          <a:cs typeface="+mn-cs"/>
        </a:defRPr>
      </a:lvl1pPr>
      <a:lvl2pPr marL="342882" algn="l" defTabSz="685766" rtl="0" eaLnBrk="1" latinLnBrk="0" hangingPunct="1">
        <a:defRPr sz="1351" kern="1200">
          <a:solidFill>
            <a:schemeClr val="tx1"/>
          </a:solidFill>
          <a:latin typeface="+mn-lt"/>
          <a:ea typeface="+mn-ea"/>
          <a:cs typeface="+mn-cs"/>
        </a:defRPr>
      </a:lvl2pPr>
      <a:lvl3pPr marL="685766" algn="l" defTabSz="685766" rtl="0" eaLnBrk="1" latinLnBrk="0" hangingPunct="1">
        <a:defRPr sz="1351" kern="1200">
          <a:solidFill>
            <a:schemeClr val="tx1"/>
          </a:solidFill>
          <a:latin typeface="+mn-lt"/>
          <a:ea typeface="+mn-ea"/>
          <a:cs typeface="+mn-cs"/>
        </a:defRPr>
      </a:lvl3pPr>
      <a:lvl4pPr marL="1028649" algn="l" defTabSz="685766" rtl="0" eaLnBrk="1" latinLnBrk="0" hangingPunct="1">
        <a:defRPr sz="1351" kern="1200">
          <a:solidFill>
            <a:schemeClr val="tx1"/>
          </a:solidFill>
          <a:latin typeface="+mn-lt"/>
          <a:ea typeface="+mn-ea"/>
          <a:cs typeface="+mn-cs"/>
        </a:defRPr>
      </a:lvl4pPr>
      <a:lvl5pPr marL="1371532" algn="l" defTabSz="685766" rtl="0" eaLnBrk="1" latinLnBrk="0" hangingPunct="1">
        <a:defRPr sz="1351" kern="1200">
          <a:solidFill>
            <a:schemeClr val="tx1"/>
          </a:solidFill>
          <a:latin typeface="+mn-lt"/>
          <a:ea typeface="+mn-ea"/>
          <a:cs typeface="+mn-cs"/>
        </a:defRPr>
      </a:lvl5pPr>
      <a:lvl6pPr marL="1714414" algn="l" defTabSz="685766" rtl="0" eaLnBrk="1" latinLnBrk="0" hangingPunct="1">
        <a:defRPr sz="1351" kern="1200">
          <a:solidFill>
            <a:schemeClr val="tx1"/>
          </a:solidFill>
          <a:latin typeface="+mn-lt"/>
          <a:ea typeface="+mn-ea"/>
          <a:cs typeface="+mn-cs"/>
        </a:defRPr>
      </a:lvl6pPr>
      <a:lvl7pPr marL="2057298" algn="l" defTabSz="685766" rtl="0" eaLnBrk="1" latinLnBrk="0" hangingPunct="1">
        <a:defRPr sz="1351" kern="1200">
          <a:solidFill>
            <a:schemeClr val="tx1"/>
          </a:solidFill>
          <a:latin typeface="+mn-lt"/>
          <a:ea typeface="+mn-ea"/>
          <a:cs typeface="+mn-cs"/>
        </a:defRPr>
      </a:lvl7pPr>
      <a:lvl8pPr marL="2400180" algn="l" defTabSz="685766" rtl="0" eaLnBrk="1" latinLnBrk="0" hangingPunct="1">
        <a:defRPr sz="1351" kern="1200">
          <a:solidFill>
            <a:schemeClr val="tx1"/>
          </a:solidFill>
          <a:latin typeface="+mn-lt"/>
          <a:ea typeface="+mn-ea"/>
          <a:cs typeface="+mn-cs"/>
        </a:defRPr>
      </a:lvl8pPr>
      <a:lvl9pPr marL="2743062" algn="l" defTabSz="685766"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academicaffairs.kennesaw.edu/smart/index.ph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cademicaffairs.kennesaw.edu/supplementalinstruction/index.ph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B57CF-B9B9-EF4E-9E54-ADDE6D43E23E}"/>
              </a:ext>
            </a:extLst>
          </p:cNvPr>
          <p:cNvSpPr>
            <a:spLocks noGrp="1"/>
          </p:cNvSpPr>
          <p:nvPr>
            <p:ph type="ctrTitle"/>
          </p:nvPr>
        </p:nvSpPr>
        <p:spPr/>
        <p:txBody>
          <a:bodyPr/>
          <a:lstStyle/>
          <a:p>
            <a:r>
              <a:rPr lang="en-US" dirty="0"/>
              <a:t>MATH 1190 Tips and Resources </a:t>
            </a:r>
          </a:p>
        </p:txBody>
      </p:sp>
      <p:sp>
        <p:nvSpPr>
          <p:cNvPr id="3" name="Subtitle 2">
            <a:extLst>
              <a:ext uri="{FF2B5EF4-FFF2-40B4-BE49-F238E27FC236}">
                <a16:creationId xmlns:a16="http://schemas.microsoft.com/office/drawing/2014/main" id="{8A35E92A-F551-B44B-B0E0-013059FA3283}"/>
              </a:ext>
            </a:extLst>
          </p:cNvPr>
          <p:cNvSpPr>
            <a:spLocks noGrp="1"/>
          </p:cNvSpPr>
          <p:nvPr>
            <p:ph type="subTitle" idx="1"/>
          </p:nvPr>
        </p:nvSpPr>
        <p:spPr/>
        <p:txBody>
          <a:bodyPr/>
          <a:lstStyle/>
          <a:p>
            <a:r>
              <a:rPr lang="en-US" dirty="0"/>
              <a:t>CSM PRESS 2025</a:t>
            </a:r>
          </a:p>
        </p:txBody>
      </p:sp>
    </p:spTree>
    <p:extLst>
      <p:ext uri="{BB962C8B-B14F-4D97-AF65-F5344CB8AC3E}">
        <p14:creationId xmlns:p14="http://schemas.microsoft.com/office/powerpoint/2010/main" val="42209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40809-B5EC-EBCF-377B-EB6ED83FB23A}"/>
              </a:ext>
            </a:extLst>
          </p:cNvPr>
          <p:cNvSpPr txBox="1"/>
          <p:nvPr/>
        </p:nvSpPr>
        <p:spPr>
          <a:xfrm>
            <a:off x="610069" y="442122"/>
            <a:ext cx="3767967" cy="600164"/>
          </a:xfrm>
          <a:prstGeom prst="rect">
            <a:avLst/>
          </a:prstGeom>
          <a:noFill/>
        </p:spPr>
        <p:txBody>
          <a:bodyPr wrap="square" rtlCol="0">
            <a:spAutoFit/>
          </a:bodyPr>
          <a:lstStyle/>
          <a:p>
            <a:r>
              <a:rPr lang="en-US" sz="3300" dirty="0"/>
              <a:t>MATH 1190 Facts</a:t>
            </a:r>
          </a:p>
        </p:txBody>
      </p:sp>
      <p:sp>
        <p:nvSpPr>
          <p:cNvPr id="4" name="TextBox 3">
            <a:extLst>
              <a:ext uri="{FF2B5EF4-FFF2-40B4-BE49-F238E27FC236}">
                <a16:creationId xmlns:a16="http://schemas.microsoft.com/office/drawing/2014/main" id="{69C6E031-BFA1-AFFD-DF9F-CE4AD31ECBCD}"/>
              </a:ext>
            </a:extLst>
          </p:cNvPr>
          <p:cNvSpPr txBox="1"/>
          <p:nvPr/>
        </p:nvSpPr>
        <p:spPr>
          <a:xfrm>
            <a:off x="550015" y="1182532"/>
            <a:ext cx="811600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MATH 1190 is among the General Education courses with the highest rates of students who drop, fail, or withdraw.</a:t>
            </a:r>
          </a:p>
          <a:p>
            <a:pPr marL="285750" indent="-285750">
              <a:buFont typeface="Arial" panose="020B0604020202020204" pitchFamily="34" charset="0"/>
              <a:buChar char="•"/>
            </a:pPr>
            <a:r>
              <a:rPr lang="en-US" b="0" i="0" dirty="0">
                <a:solidFill>
                  <a:srgbClr val="171923"/>
                </a:solidFill>
                <a:effectLst/>
                <a:latin typeface="Times New Roman" panose="02020603050405020304" pitchFamily="18" charset="0"/>
                <a:cs typeface="Times New Roman" panose="02020603050405020304" pitchFamily="18" charset="0"/>
              </a:rPr>
              <a:t>Most of the reasons students have difficulty learning calculus is because they don’t study daily after lessons and have gaps in their knowledge of algebra and trigonometry.</a:t>
            </a:r>
          </a:p>
          <a:p>
            <a:pPr marL="285750" indent="-285750">
              <a:buFont typeface="Arial" panose="020B0604020202020204" pitchFamily="34" charset="0"/>
              <a:buChar char="•"/>
            </a:pPr>
            <a:r>
              <a:rPr lang="en-US" dirty="0">
                <a:solidFill>
                  <a:srgbClr val="171923"/>
                </a:solidFill>
                <a:latin typeface="Times New Roman" panose="02020603050405020304" pitchFamily="18" charset="0"/>
                <a:cs typeface="Times New Roman" panose="02020603050405020304" pitchFamily="18" charset="0"/>
              </a:rPr>
              <a:t>Students should expect to spend between 8-12 hours each week working on MATH 1190 outside of class time (and more if you’re struggling).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6424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7A86-0D05-40AA-8817-14ECF7B7C01F}"/>
              </a:ext>
            </a:extLst>
          </p:cNvPr>
          <p:cNvSpPr>
            <a:spLocks noGrp="1"/>
          </p:cNvSpPr>
          <p:nvPr>
            <p:ph type="title"/>
          </p:nvPr>
        </p:nvSpPr>
        <p:spPr/>
        <p:txBody>
          <a:bodyPr/>
          <a:lstStyle/>
          <a:p>
            <a:r>
              <a:rPr lang="en-US" dirty="0"/>
              <a:t>Tips for Success in MATH 1190</a:t>
            </a:r>
          </a:p>
        </p:txBody>
      </p:sp>
      <p:sp>
        <p:nvSpPr>
          <p:cNvPr id="3" name="Content Placeholder 2">
            <a:extLst>
              <a:ext uri="{FF2B5EF4-FFF2-40B4-BE49-F238E27FC236}">
                <a16:creationId xmlns:a16="http://schemas.microsoft.com/office/drawing/2014/main" id="{66DF3FBF-D020-4D5C-87E7-E6DFF71C33BB}"/>
              </a:ext>
            </a:extLst>
          </p:cNvPr>
          <p:cNvSpPr>
            <a:spLocks noGrp="1"/>
          </p:cNvSpPr>
          <p:nvPr>
            <p:ph idx="1"/>
          </p:nvPr>
        </p:nvSpPr>
        <p:spPr/>
        <p:txBody>
          <a:bodyPr>
            <a:normAutofit/>
          </a:bodyPr>
          <a:lstStyle/>
          <a:p>
            <a:r>
              <a:rPr lang="en-US" dirty="0"/>
              <a:t>Actively participate in class activities.</a:t>
            </a:r>
          </a:p>
          <a:p>
            <a:r>
              <a:rPr lang="en-US" dirty="0"/>
              <a:t>Complete assignments on time and study for exams.</a:t>
            </a:r>
          </a:p>
          <a:p>
            <a:r>
              <a:rPr lang="en-US" dirty="0"/>
              <a:t>Ask questions when you have them. </a:t>
            </a:r>
          </a:p>
          <a:p>
            <a:r>
              <a:rPr lang="en-US" dirty="0"/>
              <a:t>Review material from previous math classes.</a:t>
            </a:r>
          </a:p>
          <a:p>
            <a:r>
              <a:rPr lang="en-US" dirty="0"/>
              <a:t>Practice clearly showing your work.</a:t>
            </a:r>
          </a:p>
          <a:p>
            <a:r>
              <a:rPr lang="en-US" dirty="0"/>
              <a:t>SEEK HELP WHEN YOU NEED IT!! You have many resources available to you.</a:t>
            </a:r>
          </a:p>
        </p:txBody>
      </p:sp>
    </p:spTree>
    <p:extLst>
      <p:ext uri="{BB962C8B-B14F-4D97-AF65-F5344CB8AC3E}">
        <p14:creationId xmlns:p14="http://schemas.microsoft.com/office/powerpoint/2010/main" val="2960185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C9B6-7497-9FBB-507D-CC95F4116761}"/>
              </a:ext>
            </a:extLst>
          </p:cNvPr>
          <p:cNvSpPr txBox="1"/>
          <p:nvPr/>
        </p:nvSpPr>
        <p:spPr>
          <a:xfrm>
            <a:off x="542098" y="439492"/>
            <a:ext cx="4166397" cy="600164"/>
          </a:xfrm>
          <a:prstGeom prst="rect">
            <a:avLst/>
          </a:prstGeom>
          <a:noFill/>
        </p:spPr>
        <p:txBody>
          <a:bodyPr wrap="none" rtlCol="0">
            <a:spAutoFit/>
          </a:bodyPr>
          <a:lstStyle/>
          <a:p>
            <a:r>
              <a:rPr lang="en-US" sz="3300" dirty="0"/>
              <a:t>MATH 1190 Resources</a:t>
            </a:r>
          </a:p>
        </p:txBody>
      </p:sp>
      <p:sp>
        <p:nvSpPr>
          <p:cNvPr id="3" name="TextBox 2">
            <a:extLst>
              <a:ext uri="{FF2B5EF4-FFF2-40B4-BE49-F238E27FC236}">
                <a16:creationId xmlns:a16="http://schemas.microsoft.com/office/drawing/2014/main" id="{FF3C835C-6781-17D1-BF51-8FE5B6B3879D}"/>
              </a:ext>
            </a:extLst>
          </p:cNvPr>
          <p:cNvSpPr txBox="1"/>
          <p:nvPr/>
        </p:nvSpPr>
        <p:spPr>
          <a:xfrm>
            <a:off x="614862" y="1012799"/>
            <a:ext cx="7524683" cy="2308324"/>
          </a:xfrm>
          <a:prstGeom prst="rect">
            <a:avLst/>
          </a:prstGeom>
          <a:noFill/>
        </p:spPr>
        <p:txBody>
          <a:bodyPr wrap="square" rtlCol="0">
            <a:spAutoFit/>
          </a:bodyPr>
          <a:lstStyle/>
          <a:p>
            <a:r>
              <a:rPr lang="en-US" dirty="0"/>
              <a:t>There are many resources available to MATH 1190 students that increase the likelihood of success, including…</a:t>
            </a:r>
          </a:p>
          <a:p>
            <a:pPr marL="742950" lvl="1" indent="-285750">
              <a:buFont typeface="Courier New" panose="02070309020205020404" pitchFamily="49" charset="0"/>
              <a:buChar char="o"/>
            </a:pPr>
            <a:r>
              <a:rPr lang="en-US" dirty="0"/>
              <a:t>Your professor’s office hours.</a:t>
            </a:r>
          </a:p>
          <a:p>
            <a:pPr marL="742950" lvl="1" indent="-285750">
              <a:buFont typeface="Courier New" panose="02070309020205020404" pitchFamily="49" charset="0"/>
              <a:buChar char="o"/>
            </a:pPr>
            <a:r>
              <a:rPr lang="en-US" dirty="0"/>
              <a:t>The Mathematics Open Lab.</a:t>
            </a:r>
          </a:p>
          <a:p>
            <a:pPr marL="742950" lvl="1" indent="-285750">
              <a:buFont typeface="Courier New" panose="02070309020205020404" pitchFamily="49" charset="0"/>
              <a:buChar char="o"/>
            </a:pPr>
            <a:r>
              <a:rPr lang="en-US" dirty="0"/>
              <a:t>The SMART Center.</a:t>
            </a:r>
          </a:p>
          <a:p>
            <a:pPr marL="742950" lvl="1" indent="-285750">
              <a:buFont typeface="Courier New" panose="02070309020205020404" pitchFamily="49" charset="0"/>
              <a:buChar char="o"/>
            </a:pPr>
            <a:r>
              <a:rPr lang="en-US" dirty="0"/>
              <a:t>Supplemental Instruction (SI) Study Sessions.</a:t>
            </a:r>
          </a:p>
          <a:p>
            <a:pPr marL="742950" lvl="1" indent="-285750">
              <a:buFont typeface="Courier New" panose="02070309020205020404" pitchFamily="49" charset="0"/>
              <a:buChar char="o"/>
            </a:pPr>
            <a:r>
              <a:rPr lang="en-US" dirty="0"/>
              <a:t>Online Resources </a:t>
            </a:r>
          </a:p>
          <a:p>
            <a:endParaRPr lang="en-US" dirty="0"/>
          </a:p>
        </p:txBody>
      </p:sp>
    </p:spTree>
    <p:extLst>
      <p:ext uri="{BB962C8B-B14F-4D97-AF65-F5344CB8AC3E}">
        <p14:creationId xmlns:p14="http://schemas.microsoft.com/office/powerpoint/2010/main" val="123473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7A86-0D05-40AA-8817-14ECF7B7C01F}"/>
              </a:ext>
            </a:extLst>
          </p:cNvPr>
          <p:cNvSpPr>
            <a:spLocks noGrp="1"/>
          </p:cNvSpPr>
          <p:nvPr>
            <p:ph type="title"/>
          </p:nvPr>
        </p:nvSpPr>
        <p:spPr/>
        <p:txBody>
          <a:bodyPr/>
          <a:lstStyle/>
          <a:p>
            <a:r>
              <a:rPr lang="en-US" dirty="0"/>
              <a:t>Office Hours</a:t>
            </a:r>
          </a:p>
        </p:txBody>
      </p:sp>
      <p:sp>
        <p:nvSpPr>
          <p:cNvPr id="3" name="Content Placeholder 2">
            <a:extLst>
              <a:ext uri="{FF2B5EF4-FFF2-40B4-BE49-F238E27FC236}">
                <a16:creationId xmlns:a16="http://schemas.microsoft.com/office/drawing/2014/main" id="{66DF3FBF-D020-4D5C-87E7-E6DFF71C33BB}"/>
              </a:ext>
            </a:extLst>
          </p:cNvPr>
          <p:cNvSpPr>
            <a:spLocks noGrp="1"/>
          </p:cNvSpPr>
          <p:nvPr>
            <p:ph idx="1"/>
          </p:nvPr>
        </p:nvSpPr>
        <p:spPr>
          <a:xfrm>
            <a:off x="462396" y="1067450"/>
            <a:ext cx="7886700" cy="3192823"/>
          </a:xfrm>
        </p:spPr>
        <p:txBody>
          <a:bodyPr>
            <a:normAutofit lnSpcReduction="10000"/>
          </a:bodyPr>
          <a:lstStyle/>
          <a:p>
            <a:r>
              <a:rPr lang="en-US" dirty="0"/>
              <a:t>Your professor will hold scheduled office hours each week. These office hours are held either in-person or online.</a:t>
            </a:r>
          </a:p>
          <a:p>
            <a:r>
              <a:rPr lang="en-US" dirty="0"/>
              <a:t>THESE OFFICE HOURS ARE THERE FOR YOU!! Appointments are not generally required for </a:t>
            </a:r>
            <a:r>
              <a:rPr lang="en-US"/>
              <a:t>your professor’s scheduled </a:t>
            </a:r>
            <a:r>
              <a:rPr lang="en-US" dirty="0"/>
              <a:t>office hours and any student in the class is welcome. </a:t>
            </a:r>
          </a:p>
          <a:p>
            <a:r>
              <a:rPr lang="en-US" dirty="0"/>
              <a:t>During these office hours, professors generally answer questions from students and reinforce the material taught in class. Many professors are also willing to provide assistance on the homework.</a:t>
            </a:r>
          </a:p>
          <a:p>
            <a:r>
              <a:rPr lang="en-US" dirty="0"/>
              <a:t>Taking advantage of your professor’s office hours is highly recommended if you’re having trouble with anything in the class!</a:t>
            </a:r>
          </a:p>
        </p:txBody>
      </p:sp>
    </p:spTree>
    <p:extLst>
      <p:ext uri="{BB962C8B-B14F-4D97-AF65-F5344CB8AC3E}">
        <p14:creationId xmlns:p14="http://schemas.microsoft.com/office/powerpoint/2010/main" val="4241802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7A86-0D05-40AA-8817-14ECF7B7C01F}"/>
              </a:ext>
            </a:extLst>
          </p:cNvPr>
          <p:cNvSpPr>
            <a:spLocks noGrp="1"/>
          </p:cNvSpPr>
          <p:nvPr>
            <p:ph type="title"/>
          </p:nvPr>
        </p:nvSpPr>
        <p:spPr/>
        <p:txBody>
          <a:bodyPr/>
          <a:lstStyle/>
          <a:p>
            <a:r>
              <a:rPr lang="en-US" dirty="0"/>
              <a:t>The Mathematics Open Lab</a:t>
            </a:r>
          </a:p>
        </p:txBody>
      </p:sp>
      <p:sp>
        <p:nvSpPr>
          <p:cNvPr id="3" name="Content Placeholder 2">
            <a:extLst>
              <a:ext uri="{FF2B5EF4-FFF2-40B4-BE49-F238E27FC236}">
                <a16:creationId xmlns:a16="http://schemas.microsoft.com/office/drawing/2014/main" id="{66DF3FBF-D020-4D5C-87E7-E6DFF71C33BB}"/>
              </a:ext>
            </a:extLst>
          </p:cNvPr>
          <p:cNvSpPr>
            <a:spLocks noGrp="1"/>
          </p:cNvSpPr>
          <p:nvPr>
            <p:ph idx="1"/>
          </p:nvPr>
        </p:nvSpPr>
        <p:spPr>
          <a:xfrm>
            <a:off x="413906" y="1023125"/>
            <a:ext cx="7886700" cy="3263504"/>
          </a:xfrm>
        </p:spPr>
        <p:txBody>
          <a:bodyPr>
            <a:normAutofit lnSpcReduction="10000"/>
          </a:bodyPr>
          <a:lstStyle/>
          <a:p>
            <a:r>
              <a:rPr lang="en-US" dirty="0"/>
              <a:t>This is a relatively new resource.</a:t>
            </a:r>
          </a:p>
          <a:p>
            <a:r>
              <a:rPr lang="en-US" dirty="0"/>
              <a:t>Locations: </a:t>
            </a:r>
          </a:p>
          <a:p>
            <a:pPr marL="0" indent="0">
              <a:buNone/>
            </a:pPr>
            <a:r>
              <a:rPr lang="en-US" dirty="0"/>
              <a:t>	Kennesaw Campus: Mathematics &amp; Statistics room 012</a:t>
            </a:r>
          </a:p>
          <a:p>
            <a:pPr marL="0" indent="0">
              <a:buNone/>
            </a:pPr>
            <a:r>
              <a:rPr lang="en-US" dirty="0"/>
              <a:t>	Marietta Campus: Mathematics Building. Room TBD</a:t>
            </a:r>
          </a:p>
          <a:p>
            <a:r>
              <a:rPr lang="en-US" dirty="0"/>
              <a:t>Primarily staffed by volunteering math professors!! There are also many student learning assistants on staff.</a:t>
            </a:r>
          </a:p>
          <a:p>
            <a:r>
              <a:rPr lang="en-US" dirty="0"/>
              <a:t>The Open Lab is essentially a tutoring center. You can go there to receive help with your math assignments or even just to ask questions about the course material. </a:t>
            </a:r>
          </a:p>
          <a:p>
            <a:r>
              <a:rPr lang="en-US" dirty="0"/>
              <a:t>Hours for Fall 2025 will be posted at the beginning of the semester.</a:t>
            </a:r>
          </a:p>
        </p:txBody>
      </p:sp>
    </p:spTree>
    <p:extLst>
      <p:ext uri="{BB962C8B-B14F-4D97-AF65-F5344CB8AC3E}">
        <p14:creationId xmlns:p14="http://schemas.microsoft.com/office/powerpoint/2010/main" val="3256848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7A86-0D05-40AA-8817-14ECF7B7C01F}"/>
              </a:ext>
            </a:extLst>
          </p:cNvPr>
          <p:cNvSpPr>
            <a:spLocks noGrp="1"/>
          </p:cNvSpPr>
          <p:nvPr>
            <p:ph type="title"/>
          </p:nvPr>
        </p:nvSpPr>
        <p:spPr>
          <a:xfrm>
            <a:off x="628651" y="315733"/>
            <a:ext cx="7886700" cy="994172"/>
          </a:xfrm>
        </p:spPr>
        <p:txBody>
          <a:bodyPr/>
          <a:lstStyle/>
          <a:p>
            <a:r>
              <a:rPr lang="en-US" dirty="0"/>
              <a:t>The SMART Center</a:t>
            </a:r>
          </a:p>
        </p:txBody>
      </p:sp>
      <p:sp>
        <p:nvSpPr>
          <p:cNvPr id="3" name="Content Placeholder 2">
            <a:extLst>
              <a:ext uri="{FF2B5EF4-FFF2-40B4-BE49-F238E27FC236}">
                <a16:creationId xmlns:a16="http://schemas.microsoft.com/office/drawing/2014/main" id="{66DF3FBF-D020-4D5C-87E7-E6DFF71C33BB}"/>
              </a:ext>
            </a:extLst>
          </p:cNvPr>
          <p:cNvSpPr>
            <a:spLocks noGrp="1"/>
          </p:cNvSpPr>
          <p:nvPr>
            <p:ph idx="1"/>
          </p:nvPr>
        </p:nvSpPr>
        <p:spPr>
          <a:xfrm>
            <a:off x="413906" y="1189380"/>
            <a:ext cx="7886700" cy="3263504"/>
          </a:xfrm>
        </p:spPr>
        <p:txBody>
          <a:bodyPr>
            <a:normAutofit/>
          </a:bodyPr>
          <a:lstStyle/>
          <a:p>
            <a:r>
              <a:rPr lang="en-US" dirty="0"/>
              <a:t>Offers tutoring on both campuses. Also offers virtual tutoring.</a:t>
            </a:r>
          </a:p>
          <a:p>
            <a:pPr lvl="1">
              <a:buFont typeface="Courier New" panose="02070309020205020404" pitchFamily="49" charset="0"/>
              <a:buChar char="o"/>
            </a:pPr>
            <a:r>
              <a:rPr lang="en-US" dirty="0"/>
              <a:t>In-person tutoring hours: Sun: 1 PM – 6 PM, Mon-Thurs: 9 AM – 7 PM, Fri 10 AM – 2 PM.</a:t>
            </a:r>
          </a:p>
          <a:p>
            <a:pPr lvl="1">
              <a:buFont typeface="Courier New" panose="02070309020205020404" pitchFamily="49" charset="0"/>
              <a:buChar char="o"/>
            </a:pPr>
            <a:r>
              <a:rPr lang="en-US" dirty="0"/>
              <a:t>Virtual tutoring hours: By appointment.</a:t>
            </a:r>
          </a:p>
          <a:p>
            <a:r>
              <a:rPr lang="en-US" dirty="0"/>
              <a:t>Not a one-on-one tutoring environment. </a:t>
            </a:r>
            <a:r>
              <a:rPr lang="en-US" b="0" i="0" dirty="0">
                <a:solidFill>
                  <a:srgbClr val="000000"/>
                </a:solidFill>
                <a:effectLst/>
                <a:latin typeface="Times New Roman" panose="02020603050405020304" pitchFamily="18" charset="0"/>
                <a:cs typeface="Times New Roman" panose="02020603050405020304" pitchFamily="18" charset="0"/>
              </a:rPr>
              <a:t>Please go prepared to ask questions when a tutor is available. The tutors make rounds and will spend a few minutes with you to answer your questions before they move on to help someone else.</a:t>
            </a:r>
          </a:p>
          <a:p>
            <a:r>
              <a:rPr lang="en-US" dirty="0">
                <a:hlinkClick r:id="rId2"/>
              </a:rPr>
              <a:t>https://academicaffairs.kennesaw.edu/smart/index.php</a:t>
            </a:r>
            <a:endParaRPr lang="en-US" dirty="0"/>
          </a:p>
          <a:p>
            <a:pPr marL="0" indent="0">
              <a:buNone/>
            </a:pPr>
            <a:endParaRPr lang="en-US" dirty="0"/>
          </a:p>
        </p:txBody>
      </p:sp>
    </p:spTree>
    <p:extLst>
      <p:ext uri="{BB962C8B-B14F-4D97-AF65-F5344CB8AC3E}">
        <p14:creationId xmlns:p14="http://schemas.microsoft.com/office/powerpoint/2010/main" val="31890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7A86-0D05-40AA-8817-14ECF7B7C01F}"/>
              </a:ext>
            </a:extLst>
          </p:cNvPr>
          <p:cNvSpPr>
            <a:spLocks noGrp="1"/>
          </p:cNvSpPr>
          <p:nvPr>
            <p:ph type="title"/>
          </p:nvPr>
        </p:nvSpPr>
        <p:spPr>
          <a:xfrm>
            <a:off x="628651" y="315733"/>
            <a:ext cx="7886700" cy="994172"/>
          </a:xfrm>
        </p:spPr>
        <p:txBody>
          <a:bodyPr/>
          <a:lstStyle/>
          <a:p>
            <a:r>
              <a:rPr lang="en-US" dirty="0"/>
              <a:t>Supplemental Instruction (SI) Sessions</a:t>
            </a:r>
          </a:p>
        </p:txBody>
      </p:sp>
      <p:sp>
        <p:nvSpPr>
          <p:cNvPr id="3" name="Content Placeholder 2">
            <a:extLst>
              <a:ext uri="{FF2B5EF4-FFF2-40B4-BE49-F238E27FC236}">
                <a16:creationId xmlns:a16="http://schemas.microsoft.com/office/drawing/2014/main" id="{66DF3FBF-D020-4D5C-87E7-E6DFF71C33BB}"/>
              </a:ext>
            </a:extLst>
          </p:cNvPr>
          <p:cNvSpPr>
            <a:spLocks noGrp="1"/>
          </p:cNvSpPr>
          <p:nvPr>
            <p:ph idx="1"/>
          </p:nvPr>
        </p:nvSpPr>
        <p:spPr>
          <a:xfrm>
            <a:off x="413905" y="1189380"/>
            <a:ext cx="8101443" cy="3263504"/>
          </a:xfrm>
        </p:spPr>
        <p:txBody>
          <a:bodyPr>
            <a:normAutofit/>
          </a:bodyPr>
          <a:lstStyle/>
          <a:p>
            <a:r>
              <a:rPr lang="en-US" b="0" i="0" dirty="0">
                <a:solidFill>
                  <a:srgbClr val="000000"/>
                </a:solidFill>
                <a:effectLst/>
                <a:latin typeface="Times New Roman" panose="02020603050405020304" pitchFamily="18" charset="0"/>
                <a:cs typeface="Times New Roman" panose="02020603050405020304" pitchFamily="18" charset="0"/>
              </a:rPr>
              <a:t>Supplemental Instruction (SI) is a program that offers FREE weekly study sessions for students enrolled in targeted courses with the purpose of enhancing student learning and success. </a:t>
            </a:r>
          </a:p>
          <a:p>
            <a:r>
              <a:rPr lang="en-US" dirty="0">
                <a:solidFill>
                  <a:srgbClr val="000000"/>
                </a:solidFill>
                <a:latin typeface="Times New Roman" panose="02020603050405020304" pitchFamily="18" charset="0"/>
                <a:cs typeface="Times New Roman" panose="02020603050405020304" pitchFamily="18" charset="0"/>
              </a:rPr>
              <a:t>Your class may be assigned an SI Leader.</a:t>
            </a:r>
          </a:p>
          <a:p>
            <a:r>
              <a:rPr lang="en-US" dirty="0">
                <a:solidFill>
                  <a:srgbClr val="000000"/>
                </a:solidFill>
                <a:latin typeface="Times New Roman" panose="02020603050405020304" pitchFamily="18" charset="0"/>
                <a:cs typeface="Times New Roman" panose="02020603050405020304" pitchFamily="18" charset="0"/>
              </a:rPr>
              <a:t>Even if your class is not assigned an SI Leader, all SI sessions are open to every student. See the Study Session Schedule and scroll down the list until you see MATH 1190.</a:t>
            </a:r>
          </a:p>
          <a:p>
            <a:pPr marL="0" indent="0">
              <a:buNone/>
            </a:pPr>
            <a:r>
              <a:rPr lang="en-US" dirty="0">
                <a:solidFill>
                  <a:srgbClr val="000000"/>
                </a:solidFill>
                <a:latin typeface="Times New Roman" panose="02020603050405020304" pitchFamily="18" charset="0"/>
                <a:cs typeface="Times New Roman" panose="02020603050405020304" pitchFamily="18" charset="0"/>
                <a:hlinkClick r:id="rId2"/>
              </a:rPr>
              <a:t>https://academicaffairs.kennesaw.edu/supplementalinstruction/index.php</a:t>
            </a:r>
            <a:endParaRPr lang="en-US" dirty="0">
              <a:solidFill>
                <a:srgbClr val="000000"/>
              </a:solidFill>
              <a:latin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017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7A86-0D05-40AA-8817-14ECF7B7C01F}"/>
              </a:ext>
            </a:extLst>
          </p:cNvPr>
          <p:cNvSpPr>
            <a:spLocks noGrp="1"/>
          </p:cNvSpPr>
          <p:nvPr>
            <p:ph type="title"/>
          </p:nvPr>
        </p:nvSpPr>
        <p:spPr>
          <a:xfrm>
            <a:off x="628651" y="315733"/>
            <a:ext cx="7886700" cy="994172"/>
          </a:xfrm>
        </p:spPr>
        <p:txBody>
          <a:bodyPr/>
          <a:lstStyle/>
          <a:p>
            <a:r>
              <a:rPr lang="en-US" dirty="0"/>
              <a:t>Parting Tips</a:t>
            </a:r>
          </a:p>
        </p:txBody>
      </p:sp>
      <p:sp>
        <p:nvSpPr>
          <p:cNvPr id="3" name="Content Placeholder 2">
            <a:extLst>
              <a:ext uri="{FF2B5EF4-FFF2-40B4-BE49-F238E27FC236}">
                <a16:creationId xmlns:a16="http://schemas.microsoft.com/office/drawing/2014/main" id="{66DF3FBF-D020-4D5C-87E7-E6DFF71C33BB}"/>
              </a:ext>
            </a:extLst>
          </p:cNvPr>
          <p:cNvSpPr>
            <a:spLocks noGrp="1"/>
          </p:cNvSpPr>
          <p:nvPr>
            <p:ph idx="1"/>
          </p:nvPr>
        </p:nvSpPr>
        <p:spPr>
          <a:xfrm>
            <a:off x="413905" y="1189380"/>
            <a:ext cx="8101443" cy="3263504"/>
          </a:xfrm>
        </p:spPr>
        <p:txBody>
          <a:bodyPr>
            <a:normAutofit/>
          </a:bodyPr>
          <a:lstStyle/>
          <a:p>
            <a:r>
              <a:rPr lang="en-US" dirty="0">
                <a:solidFill>
                  <a:srgbClr val="000000"/>
                </a:solidFill>
                <a:latin typeface="Times New Roman" panose="02020603050405020304" pitchFamily="18" charset="0"/>
                <a:cs typeface="Times New Roman" panose="02020603050405020304" pitchFamily="18" charset="0"/>
              </a:rPr>
              <a:t>If you don’t understand something, don’t stay silent and hope it’ll go away. Seek help from one of the many sources listed above. </a:t>
            </a:r>
          </a:p>
          <a:p>
            <a:r>
              <a:rPr lang="en-US" dirty="0">
                <a:solidFill>
                  <a:srgbClr val="000000"/>
                </a:solidFill>
                <a:latin typeface="Times New Roman" panose="02020603050405020304" pitchFamily="18" charset="0"/>
                <a:cs typeface="Times New Roman" panose="02020603050405020304" pitchFamily="18" charset="0"/>
              </a:rPr>
              <a:t>If you use an online platform for your homework (Achieve), then it’s a good idea to keep a homework journal/notebook. Write down the homework assignment, write down the entire problem, then write your solution. </a:t>
            </a:r>
          </a:p>
          <a:p>
            <a:r>
              <a:rPr lang="en-US" dirty="0">
                <a:solidFill>
                  <a:srgbClr val="000000"/>
                </a:solidFill>
                <a:latin typeface="Times New Roman" panose="02020603050405020304" pitchFamily="18" charset="0"/>
                <a:cs typeface="Times New Roman" panose="02020603050405020304" pitchFamily="18" charset="0"/>
              </a:rPr>
              <a:t>Study for exams! </a:t>
            </a:r>
          </a:p>
        </p:txBody>
      </p:sp>
    </p:spTree>
    <p:extLst>
      <p:ext uri="{BB962C8B-B14F-4D97-AF65-F5344CB8AC3E}">
        <p14:creationId xmlns:p14="http://schemas.microsoft.com/office/powerpoint/2010/main" val="42433416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ll Times">
      <a:majorFont>
        <a:latin typeface="Times New Roman"/>
        <a:ea typeface=""/>
        <a:cs typeface=""/>
      </a:majorFont>
      <a:minorFont>
        <a:latin typeface="Times New Roman"/>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eob-2019-ppt-16x9" id="{041FDD2D-1615-5F4F-B82D-98D094696C7F}" vid="{19C20F82-67CC-014D-B13B-62176558C12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188FD09BC65C6498B60C1DA04268158" ma:contentTypeVersion="5" ma:contentTypeDescription="Create a new document." ma:contentTypeScope="" ma:versionID="3b1443a53a9889c53b1d42811326bee2">
  <xsd:schema xmlns:xsd="http://www.w3.org/2001/XMLSchema" xmlns:xs="http://www.w3.org/2001/XMLSchema" xmlns:p="http://schemas.microsoft.com/office/2006/metadata/properties" xmlns:ns3="e41bfbfa-c0ce-47fc-8480-503910e6e19c" targetNamespace="http://schemas.microsoft.com/office/2006/metadata/properties" ma:root="true" ma:fieldsID="83b49ef5dd758b81c117b37c6dd92b46" ns3:_="">
    <xsd:import namespace="e41bfbfa-c0ce-47fc-8480-503910e6e19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1bfbfa-c0ce-47fc-8480-503910e6e1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6D31430-750F-410D-8BA0-8AD43F9962B7}">
  <ds:schemaRefs>
    <ds:schemaRef ds:uri="http://schemas.microsoft.com/sharepoint/v3/contenttype/forms"/>
  </ds:schemaRefs>
</ds:datastoreItem>
</file>

<file path=customXml/itemProps2.xml><?xml version="1.0" encoding="utf-8"?>
<ds:datastoreItem xmlns:ds="http://schemas.openxmlformats.org/officeDocument/2006/customXml" ds:itemID="{EED7CDD4-C21D-4577-8CBA-4F6D43A85774}">
  <ds:schemaRefs>
    <ds:schemaRef ds:uri="http://schemas.microsoft.com/office/2006/documentManagement/types"/>
    <ds:schemaRef ds:uri="e41bfbfa-c0ce-47fc-8480-503910e6e19c"/>
    <ds:schemaRef ds:uri="http://purl.org/dc/terms/"/>
    <ds:schemaRef ds:uri="http://schemas.microsoft.com/office/2006/metadata/properties"/>
    <ds:schemaRef ds:uri="http://purl.org/dc/elements/1.1/"/>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EBA4079-95B3-454C-8A47-DFD2CD3C2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1bfbfa-c0ce-47fc-8480-503910e6e1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513</TotalTime>
  <Words>653</Words>
  <Application>Microsoft Office PowerPoint</Application>
  <PresentationFormat>On-screen Show (16:9)</PresentationFormat>
  <Paragraphs>48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Courier New</vt:lpstr>
      <vt:lpstr>Times New Roman</vt:lpstr>
      <vt:lpstr>Office Theme</vt:lpstr>
      <vt:lpstr>MATH 1190 Tips and Resources </vt:lpstr>
      <vt:lpstr>PowerPoint Presentation</vt:lpstr>
      <vt:lpstr>Tips for Success in MATH 1190</vt:lpstr>
      <vt:lpstr>PowerPoint Presentation</vt:lpstr>
      <vt:lpstr>Office Hours</vt:lpstr>
      <vt:lpstr>The Mathematics Open Lab</vt:lpstr>
      <vt:lpstr>The SMART Center</vt:lpstr>
      <vt:lpstr>Supplemental Instruction (SI) Sessions</vt:lpstr>
      <vt:lpstr>Parting Tips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Resources</dc:title>
  <dc:creator>Microsoft Office User</dc:creator>
  <cp:lastModifiedBy>Dustin Deutsch</cp:lastModifiedBy>
  <cp:revision>5</cp:revision>
  <dcterms:created xsi:type="dcterms:W3CDTF">2019-11-08T19:52:07Z</dcterms:created>
  <dcterms:modified xsi:type="dcterms:W3CDTF">2025-07-21T14:32:29Z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0x0101004188FD09BC65C6498B60C1DA04268158</vt:lpwstr>
  </property>
</Properties>
</file>